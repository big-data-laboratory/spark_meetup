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278" r:id="rId3"/>
    <p:sldId id="257" r:id="rId4"/>
    <p:sldId id="258" r:id="rId5"/>
    <p:sldId id="259" r:id="rId6"/>
    <p:sldId id="264" r:id="rId7"/>
    <p:sldId id="282" r:id="rId8"/>
    <p:sldId id="260" r:id="rId9"/>
    <p:sldId id="268" r:id="rId10"/>
    <p:sldId id="303" r:id="rId11"/>
    <p:sldId id="263" r:id="rId12"/>
    <p:sldId id="270" r:id="rId13"/>
    <p:sldId id="272" r:id="rId14"/>
    <p:sldId id="275" r:id="rId15"/>
    <p:sldId id="279" r:id="rId16"/>
    <p:sldId id="280" r:id="rId17"/>
    <p:sldId id="286" r:id="rId18"/>
    <p:sldId id="283" r:id="rId19"/>
    <p:sldId id="287" r:id="rId20"/>
    <p:sldId id="288" r:id="rId21"/>
    <p:sldId id="284" r:id="rId22"/>
    <p:sldId id="289" r:id="rId23"/>
    <p:sldId id="290" r:id="rId24"/>
    <p:sldId id="276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55" r:id="rId40"/>
    <p:sldId id="356" r:id="rId41"/>
    <p:sldId id="297" r:id="rId42"/>
    <p:sldId id="299" r:id="rId43"/>
    <p:sldId id="300" r:id="rId44"/>
    <p:sldId id="293" r:id="rId45"/>
    <p:sldId id="329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7BD9ECC-4AC5-C04F-89A3-C042A1475AAB}">
          <p14:sldIdLst>
            <p14:sldId id="256"/>
            <p14:sldId id="278"/>
          </p14:sldIdLst>
        </p14:section>
        <p14:section name="Architecture" id="{28278275-6B70-0544-851B-C8B0072696FC}">
          <p14:sldIdLst>
            <p14:sldId id="257"/>
            <p14:sldId id="258"/>
            <p14:sldId id="259"/>
            <p14:sldId id="264"/>
            <p14:sldId id="282"/>
          </p14:sldIdLst>
        </p14:section>
        <p14:section name="Driver Recovery" id="{2D40AC52-36A4-4A45-946D-3BB09C1EE2B8}">
          <p14:sldIdLst>
            <p14:sldId id="260"/>
            <p14:sldId id="268"/>
            <p14:sldId id="303"/>
            <p14:sldId id="263"/>
            <p14:sldId id="270"/>
            <p14:sldId id="272"/>
            <p14:sldId id="275"/>
            <p14:sldId id="279"/>
          </p14:sldIdLst>
        </p14:section>
        <p14:section name="TD's section" id="{7ABF1453-34B9-BF41-969C-BC088262B611}">
          <p14:sldIdLst>
            <p14:sldId id="280"/>
            <p14:sldId id="286"/>
            <p14:sldId id="283"/>
            <p14:sldId id="287"/>
            <p14:sldId id="288"/>
            <p14:sldId id="284"/>
            <p14:sldId id="289"/>
            <p14:sldId id="290"/>
          </p14:sldIdLst>
        </p14:section>
        <p14:section name="Hari's Section" id="{256B5C7F-A6FC-404E-BC0A-5B4F5F9BB1FF}">
          <p14:sldIdLst>
            <p14:sldId id="276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55"/>
          </p14:sldIdLst>
        </p14:section>
        <p14:section name="Summary and Conclusion" id="{7B62D537-2841-6940-BBE3-D902B8262490}">
          <p14:sldIdLst>
            <p14:sldId id="356"/>
            <p14:sldId id="297"/>
            <p14:sldId id="299"/>
            <p14:sldId id="300"/>
            <p14:sldId id="293"/>
            <p14:sldId id="329"/>
          </p14:sldIdLst>
        </p14:section>
        <p14:section name="Backup" id="{0B298762-FEA9-E347-B6BC-A4C5DC05ED79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athagata Das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F6A519"/>
    <a:srgbClr val="172678"/>
    <a:srgbClr val="859FFF"/>
    <a:srgbClr val="568AFF"/>
    <a:srgbClr val="216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2" autoAdjust="0"/>
    <p:restoredTop sz="94434" autoAdjust="0"/>
  </p:normalViewPr>
  <p:slideViewPr>
    <p:cSldViewPr snapToGrid="0" snapToObjects="1">
      <p:cViewPr varScale="1">
        <p:scale>
          <a:sx n="83" d="100"/>
          <a:sy n="83" d="100"/>
        </p:scale>
        <p:origin x="90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3" d="100"/>
        <a:sy n="9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BDAA2-8854-9A43-A901-F918C8E70574}" type="datetimeFigureOut">
              <a:rPr lang="en-US" smtClean="0"/>
              <a:pPr/>
              <a:t>1/22/2015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3107E-94A7-BF48-82A0-F25F53F87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436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79A815-B03D-2043-80B3-9325C80F406D}" type="datetimeFigureOut">
              <a:rPr lang="en-US" smtClean="0"/>
              <a:pPr/>
              <a:t>1/22/2015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96B72-1C7D-4044-92B9-02568B2855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78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clarify</a:t>
            </a:r>
            <a:r>
              <a:rPr lang="en-US" baseline="0" dirty="0" smtClean="0"/>
              <a:t> that this “batch” is different “source batch”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196B72-1C7D-4044-92B9-02568B28557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53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ACK once </a:t>
            </a:r>
            <a:r>
              <a:rPr lang="en-US" sz="1800" dirty="0" smtClean="0">
                <a:latin typeface="Courier New"/>
                <a:cs typeface="Courier New"/>
              </a:rPr>
              <a:t>store()</a:t>
            </a:r>
            <a:r>
              <a:rPr lang="en-US" dirty="0" smtClean="0"/>
              <a:t> call returns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196B72-1C7D-4044-92B9-02568B28557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15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source has batches .. easy</a:t>
            </a:r>
            <a:r>
              <a:rPr lang="en-US" baseline="0" dirty="0" smtClean="0"/>
              <a:t> ..Flume</a:t>
            </a:r>
          </a:p>
          <a:p>
            <a:r>
              <a:rPr lang="en-US" baseline="0" dirty="0" smtClean="0"/>
              <a:t>If no, Kafka, not easy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196B72-1C7D-4044-92B9-02568B28557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23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71753" y="1841884"/>
            <a:ext cx="7497272" cy="870725"/>
          </a:xfrm>
        </p:spPr>
        <p:txBody>
          <a:bodyPr/>
          <a:lstStyle>
            <a:lvl1pPr>
              <a:defRPr b="1">
                <a:latin typeface="Helvetica Neue Light"/>
                <a:cs typeface="Helvetica Neue Light"/>
              </a:defRPr>
            </a:lvl1pPr>
          </a:lstStyle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45625" y="352257"/>
            <a:ext cx="8431650" cy="5762503"/>
          </a:xfrm>
          <a:prstGeom prst="rect">
            <a:avLst/>
          </a:prstGeom>
          <a:noFill/>
          <a:ln w="28575" cmpd="sng">
            <a:gradFill flip="none" rotWithShape="1">
              <a:gsLst>
                <a:gs pos="0">
                  <a:srgbClr val="000090"/>
                </a:gs>
                <a:gs pos="70000">
                  <a:srgbClr val="F5B625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mplab_hires.png"/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332" r="1957" b="8965"/>
          <a:stretch/>
        </p:blipFill>
        <p:spPr>
          <a:xfrm>
            <a:off x="5611094" y="5732399"/>
            <a:ext cx="2646106" cy="6627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767" y="5792420"/>
            <a:ext cx="1875010" cy="6629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871753" y="2817814"/>
            <a:ext cx="7497762" cy="653926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rgbClr val="F6A519"/>
                </a:solidFill>
              </a:defRPr>
            </a:lvl1pPr>
          </a:lstStyle>
          <a:p>
            <a:pPr lvl="0"/>
            <a:r>
              <a:rPr lang="en-US" dirty="0" smtClean="0"/>
              <a:t>Click to edit text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871753" y="4097402"/>
            <a:ext cx="7497762" cy="65392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307277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12" y="354018"/>
            <a:ext cx="8183288" cy="8707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183288" cy="4251355"/>
          </a:xfrm>
        </p:spPr>
        <p:txBody>
          <a:bodyPr/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/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/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/>
            </a:lvl5pPr>
          </a:lstStyle>
          <a:p>
            <a:pPr marL="346075" marR="0" lvl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Helvetica Neue Light"/>
                <a:ea typeface="+mn-ea"/>
                <a:cs typeface="Helvetica Neue Light"/>
              </a:rPr>
              <a:t>Click to edit Master text styles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Helvetica Neue Light"/>
                <a:ea typeface="+mn-ea"/>
                <a:cs typeface="Helvetica Neue Light"/>
              </a:rPr>
              <a:t>Second level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latin typeface="Helvetica Neue Light"/>
                <a:ea typeface="+mn-ea"/>
                <a:cs typeface="Helvetica Neue Light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50757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676" y="354018"/>
            <a:ext cx="8229600" cy="8707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676" y="1600200"/>
            <a:ext cx="4038600" cy="4525963"/>
          </a:xfrm>
        </p:spPr>
        <p:txBody>
          <a:bodyPr/>
          <a:lstStyle>
            <a:lvl1pPr marL="0" indent="0">
              <a:buNone/>
              <a:defRPr sz="2400"/>
            </a:lvl1pPr>
            <a:lvl2pPr marL="742950" indent="-285750">
              <a:buClr>
                <a:schemeClr val="bg2">
                  <a:lumMod val="90000"/>
                </a:schemeClr>
              </a:buClr>
              <a:buFont typeface="Lucida Grande"/>
              <a:buChar char="&gt;"/>
              <a:defRPr sz="2400"/>
            </a:lvl2pPr>
            <a:lvl3pPr marL="1143000" indent="-228600">
              <a:buClr>
                <a:schemeClr val="bg2">
                  <a:lumMod val="90000"/>
                </a:schemeClr>
              </a:buClr>
              <a:buFont typeface="Lucida Grande"/>
              <a:buChar char="&gt;"/>
              <a:defRPr sz="2000"/>
            </a:lvl3pPr>
            <a:lvl4pPr marL="1600200" indent="-228600">
              <a:buClr>
                <a:schemeClr val="bg2">
                  <a:lumMod val="90000"/>
                </a:schemeClr>
              </a:buClr>
              <a:buFont typeface="Lucida Grande"/>
              <a:buChar char="&gt;"/>
              <a:defRPr sz="1800"/>
            </a:lvl4pPr>
            <a:lvl5pPr marL="2057400" indent="-228600">
              <a:buClr>
                <a:schemeClr val="bg2">
                  <a:lumMod val="90000"/>
                </a:schemeClr>
              </a:buClr>
              <a:buFont typeface="Lucida Grande"/>
              <a:buChar char="&gt;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0" indent="0">
              <a:buClr>
                <a:schemeClr val="bg2">
                  <a:lumMod val="90000"/>
                </a:schemeClr>
              </a:buClr>
              <a:buNone/>
              <a:defRPr sz="2400"/>
            </a:lvl1pPr>
            <a:lvl2pPr marL="742950" indent="-285750">
              <a:buClr>
                <a:schemeClr val="bg2">
                  <a:lumMod val="90000"/>
                </a:schemeClr>
              </a:buClr>
              <a:buFont typeface="Lucida Grande"/>
              <a:buChar char="&gt;"/>
              <a:defRPr sz="2400"/>
            </a:lvl2pPr>
            <a:lvl3pPr marL="1143000" indent="-228600">
              <a:buClr>
                <a:schemeClr val="bg2">
                  <a:lumMod val="90000"/>
                </a:schemeClr>
              </a:buClr>
              <a:buFont typeface="Lucida Grande"/>
              <a:buChar char="&gt;"/>
              <a:defRPr sz="2000"/>
            </a:lvl3pPr>
            <a:lvl4pPr marL="1600200" indent="-228600">
              <a:buClr>
                <a:schemeClr val="bg2">
                  <a:lumMod val="90000"/>
                </a:schemeClr>
              </a:buClr>
              <a:buFont typeface="Lucida Grande"/>
              <a:buChar char="&gt;"/>
              <a:defRPr sz="1800"/>
            </a:lvl4pPr>
            <a:lvl5pPr marL="2057400" indent="-228600">
              <a:buClr>
                <a:schemeClr val="bg2">
                  <a:lumMod val="90000"/>
                </a:schemeClr>
              </a:buClr>
              <a:buFont typeface="Lucida Grande"/>
              <a:buChar char="&gt;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3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88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449" y="2993638"/>
            <a:ext cx="8226351" cy="8707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2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7915E7B-EA03-0849-8A87-ADBE4C88E5A1}" type="datetimeFigureOut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1/22/2015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85112D6-9DD3-1549-BD5F-2D839B2DCBB5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652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3977" y="354018"/>
            <a:ext cx="8132823" cy="8707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3977" y="1600200"/>
            <a:ext cx="8132823" cy="4251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2048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0" r:id="rId2"/>
    <p:sldLayoutId id="2147483652" r:id="rId3"/>
    <p:sldLayoutId id="2147483655" r:id="rId4"/>
    <p:sldLayoutId id="2147483657" r:id="rId5"/>
    <p:sldLayoutId id="2147483670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Helvetica Neue Light"/>
          <a:ea typeface="+mj-ea"/>
          <a:cs typeface="Helvetica Neue Light"/>
        </a:defRPr>
      </a:lvl1pPr>
    </p:titleStyle>
    <p:bodyStyle>
      <a:lvl1pPr marL="346075" indent="-346075" algn="l" defTabSz="457200" rtl="0" eaLnBrk="1" latinLnBrk="0" hangingPunct="1">
        <a:spcBef>
          <a:spcPct val="20000"/>
        </a:spcBef>
        <a:buClr>
          <a:schemeClr val="bg2">
            <a:lumMod val="90000"/>
          </a:schemeClr>
        </a:buClr>
        <a:buFont typeface="Lucida Grande"/>
        <a:buChar char="&gt;"/>
        <a:defRPr sz="2800" kern="1200">
          <a:solidFill>
            <a:schemeClr val="tx1"/>
          </a:solidFill>
          <a:latin typeface="Helvetica Neue Light"/>
          <a:ea typeface="+mn-ea"/>
          <a:cs typeface="Helvetica Neue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bg2">
            <a:lumMod val="90000"/>
          </a:schemeClr>
        </a:buClr>
        <a:buFont typeface="Lucida Grande"/>
        <a:buChar char="-"/>
        <a:defRPr sz="2400" kern="1200">
          <a:solidFill>
            <a:schemeClr val="tx1"/>
          </a:solidFill>
          <a:latin typeface="Helvetica Neue Light"/>
          <a:ea typeface="+mn-ea"/>
          <a:cs typeface="Helvetica Neue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bg2">
            <a:lumMod val="90000"/>
          </a:schemeClr>
        </a:buClr>
        <a:buFont typeface="Arial"/>
        <a:buChar char="•"/>
        <a:defRPr sz="2400" kern="1200">
          <a:solidFill>
            <a:schemeClr val="tx1"/>
          </a:solidFill>
          <a:latin typeface="Helvetica Neue Light"/>
          <a:ea typeface="+mn-ea"/>
          <a:cs typeface="Helvetica Neue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bg2">
            <a:lumMod val="90000"/>
          </a:schemeClr>
        </a:buClr>
        <a:buFont typeface="Lucida Grande"/>
        <a:buChar char="&gt;"/>
        <a:defRPr sz="2000" kern="1200">
          <a:solidFill>
            <a:schemeClr val="tx1"/>
          </a:solidFill>
          <a:latin typeface="Helvetica Neue Light"/>
          <a:ea typeface="+mn-ea"/>
          <a:cs typeface="Helvetica Neue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bg2">
            <a:lumMod val="90000"/>
          </a:schemeClr>
        </a:buClr>
        <a:buFont typeface="Lucida Grande"/>
        <a:buChar char="&gt;"/>
        <a:defRPr sz="2000" kern="1200">
          <a:solidFill>
            <a:schemeClr val="tx1"/>
          </a:solidFill>
          <a:latin typeface="Helvetica Neue Light"/>
          <a:ea typeface="+mn-ea"/>
          <a:cs typeface="Helvetica Neue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microsoft.com/office/2007/relationships/hdphoto" Target="../media/hdphoto4.wdp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microsoft.com/office/2007/relationships/hdphoto" Target="../media/hdphoto4.wdp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7.wdp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7.wdp"/><Relationship Id="rId4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microsoft.com/office/2007/relationships/hdphoto" Target="../media/hdphoto4.wdp"/><Relationship Id="rId4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microsoft.com/office/2007/relationships/hdphoto" Target="../media/hdphoto4.wdp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17416"/>
            <a:ext cx="7772400" cy="235471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chemeClr val="accent4"/>
                </a:solidFill>
              </a:rPr>
              <a:t>Spark Streaming </a:t>
            </a:r>
            <a:br>
              <a:rPr lang="en-US" sz="4800" b="1" dirty="0" smtClean="0">
                <a:solidFill>
                  <a:schemeClr val="accent4"/>
                </a:solidFill>
              </a:rPr>
            </a:br>
            <a:r>
              <a:rPr lang="en-US" dirty="0" smtClean="0">
                <a:solidFill>
                  <a:schemeClr val="accent3"/>
                </a:solidFill>
              </a:rPr>
              <a:t>Driver High Availability and</a:t>
            </a:r>
            <a:br>
              <a:rPr lang="en-US" dirty="0" smtClean="0">
                <a:solidFill>
                  <a:schemeClr val="accent3"/>
                </a:solidFill>
              </a:rPr>
            </a:br>
            <a:r>
              <a:rPr lang="en-US" dirty="0" smtClean="0">
                <a:solidFill>
                  <a:schemeClr val="accent3"/>
                </a:solidFill>
              </a:rPr>
              <a:t>Zero Data Loss</a:t>
            </a:r>
            <a:endParaRPr lang="en-US" sz="13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2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talk – </a:t>
            </a:r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Spark Streaming architecture</a:t>
            </a:r>
          </a:p>
          <a:p>
            <a:endParaRPr lang="en-US" dirty="0" smtClean="0"/>
          </a:p>
          <a:p>
            <a:r>
              <a:rPr lang="en-US" dirty="0" smtClean="0"/>
              <a:t>Current driver failure handling</a:t>
            </a:r>
          </a:p>
          <a:p>
            <a:endParaRPr lang="en-US" dirty="0"/>
          </a:p>
          <a:p>
            <a:r>
              <a:rPr lang="en-US" dirty="0" smtClean="0"/>
              <a:t>Improved driver failure handling</a:t>
            </a:r>
          </a:p>
          <a:p>
            <a:pPr lvl="1"/>
            <a:r>
              <a:rPr lang="en-US" dirty="0" smtClean="0"/>
              <a:t>Saving and recovering received data</a:t>
            </a:r>
          </a:p>
          <a:p>
            <a:pPr lvl="1"/>
            <a:r>
              <a:rPr lang="en-US" dirty="0" smtClean="0"/>
              <a:t>Writing receivers for zero data loss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84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Architecture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58" y="2816025"/>
            <a:ext cx="1128236" cy="11282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758" y="3742496"/>
            <a:ext cx="1128236" cy="11282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58" y="4572342"/>
            <a:ext cx="1128236" cy="112823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 rot="5400000">
            <a:off x="4359005" y="4529398"/>
            <a:ext cx="430505" cy="10172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Driver</a:t>
            </a:r>
          </a:p>
        </p:txBody>
      </p:sp>
      <p:sp>
        <p:nvSpPr>
          <p:cNvPr id="36" name="Rounded Rectangle 35"/>
          <p:cNvSpPr/>
          <p:nvPr/>
        </p:nvSpPr>
        <p:spPr>
          <a:xfrm rot="5400000">
            <a:off x="6661450" y="5244761"/>
            <a:ext cx="430505" cy="123923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Worker</a:t>
            </a:r>
            <a:r>
              <a:rPr lang="en-US" altLang="zh-CN" dirty="0" smtClean="0">
                <a:solidFill>
                  <a:prstClr val="black"/>
                </a:solidFill>
                <a:latin typeface="Helvetica Neue"/>
                <a:cs typeface="Helvetica Neue"/>
              </a:rPr>
              <a:t>s</a:t>
            </a:r>
            <a:endParaRPr lang="en-US" dirty="0" smtClean="0">
              <a:solidFill>
                <a:prstClr val="black"/>
              </a:solidFill>
              <a:latin typeface="Helvetica Neue"/>
              <a:cs typeface="Helvetica Neue"/>
            </a:endParaRPr>
          </a:p>
        </p:txBody>
      </p:sp>
      <p:sp>
        <p:nvSpPr>
          <p:cNvPr id="47" name="Rounded Rectangle 46"/>
          <p:cNvSpPr/>
          <p:nvPr/>
        </p:nvSpPr>
        <p:spPr>
          <a:xfrm rot="5400000">
            <a:off x="6664624" y="3492858"/>
            <a:ext cx="430505" cy="123923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Worker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3512" y="1600200"/>
            <a:ext cx="5170998" cy="425135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Driver node runs application</a:t>
            </a:r>
          </a:p>
          <a:p>
            <a:r>
              <a:rPr lang="en-US" sz="2400" dirty="0" smtClean="0"/>
              <a:t>Worker nodes process data in executors</a:t>
            </a:r>
          </a:p>
          <a:p>
            <a:endParaRPr lang="en-US" sz="24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256837" y="3936422"/>
            <a:ext cx="1242657" cy="116788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3663" y="1843156"/>
            <a:ext cx="1242657" cy="1199513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2466" y="2899556"/>
            <a:ext cx="1481230" cy="114662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Application</a:t>
            </a:r>
          </a:p>
        </p:txBody>
      </p:sp>
      <p:sp>
        <p:nvSpPr>
          <p:cNvPr id="17" name="Rounded Rectangle 16"/>
          <p:cNvSpPr/>
          <p:nvPr/>
        </p:nvSpPr>
        <p:spPr>
          <a:xfrm rot="5400000">
            <a:off x="4254402" y="3035498"/>
            <a:ext cx="559386" cy="1239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Spark</a:t>
            </a:r>
          </a:p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236978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Streaming Architecture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2816025"/>
            <a:ext cx="1249122" cy="124912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53663" y="1843156"/>
            <a:ext cx="1375803" cy="119951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47758" y="3742496"/>
            <a:ext cx="1249122" cy="12491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4572342"/>
            <a:ext cx="1249122" cy="124912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792466" y="2211348"/>
            <a:ext cx="1639938" cy="183483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Application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6837" y="3936422"/>
            <a:ext cx="1375803" cy="116789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32" name="Rounded Rectangle 31"/>
          <p:cNvSpPr/>
          <p:nvPr/>
        </p:nvSpPr>
        <p:spPr>
          <a:xfrm rot="5400000">
            <a:off x="4318064" y="2235699"/>
            <a:ext cx="559387" cy="13720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Streaming</a:t>
            </a:r>
          </a:p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Context</a:t>
            </a:r>
          </a:p>
        </p:txBody>
      </p:sp>
      <p:sp>
        <p:nvSpPr>
          <p:cNvPr id="34" name="Rounded Rectangle 33"/>
          <p:cNvSpPr/>
          <p:nvPr/>
        </p:nvSpPr>
        <p:spPr>
          <a:xfrm rot="5400000">
            <a:off x="4320790" y="2969108"/>
            <a:ext cx="559387" cy="13720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Spark</a:t>
            </a:r>
          </a:p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Context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133469" y="2211348"/>
            <a:ext cx="2493130" cy="992570"/>
            <a:chOff x="5133469" y="2211348"/>
            <a:chExt cx="2251853" cy="992568"/>
          </a:xfrm>
        </p:grpSpPr>
        <p:sp>
          <p:nvSpPr>
            <p:cNvPr id="21" name="Rounded Rectangle 20"/>
            <p:cNvSpPr/>
            <p:nvPr/>
          </p:nvSpPr>
          <p:spPr>
            <a:xfrm rot="5400000">
              <a:off x="6661450" y="1917982"/>
              <a:ext cx="430505" cy="101723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Receiver</a:t>
              </a:r>
            </a:p>
          </p:txBody>
        </p:sp>
        <p:sp>
          <p:nvSpPr>
            <p:cNvPr id="39" name="Left Arrow 38"/>
            <p:cNvSpPr/>
            <p:nvPr/>
          </p:nvSpPr>
          <p:spPr>
            <a:xfrm rot="8867124">
              <a:off x="5133469" y="2940339"/>
              <a:ext cx="1465217" cy="263577"/>
            </a:xfrm>
            <a:prstGeom prst="leftArrow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mtClean="0">
                <a:solidFill>
                  <a:prstClr val="white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 rot="5400000">
              <a:off x="5628130" y="1958395"/>
              <a:ext cx="430505" cy="108711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Run Receivers as tasks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 rot="5400000">
            <a:off x="4413500" y="4456499"/>
            <a:ext cx="430508" cy="11262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Driver</a:t>
            </a:r>
          </a:p>
        </p:txBody>
      </p:sp>
      <p:sp>
        <p:nvSpPr>
          <p:cNvPr id="36" name="Rounded Rectangle 35"/>
          <p:cNvSpPr/>
          <p:nvPr/>
        </p:nvSpPr>
        <p:spPr>
          <a:xfrm rot="5400000">
            <a:off x="6727838" y="5159969"/>
            <a:ext cx="430507" cy="13720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Workers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3288954" cy="363466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Application runs StreamingContext and an underlying SparkContext</a:t>
            </a:r>
          </a:p>
          <a:p>
            <a:endParaRPr lang="en-US" sz="2400" dirty="0"/>
          </a:p>
          <a:p>
            <a:r>
              <a:rPr lang="en-US" sz="2400" dirty="0" smtClean="0"/>
              <a:t>Driver launches Receivers to run as long running tasks on Executors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852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Streaming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3288954" cy="477698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Each Receiver receives input stream and divides it into blocks</a:t>
            </a:r>
          </a:p>
          <a:p>
            <a:endParaRPr lang="en-US" sz="2400" dirty="0"/>
          </a:p>
          <a:p>
            <a:r>
              <a:rPr lang="en-US" sz="2400" dirty="0" smtClean="0"/>
              <a:t>Blocks stored in Executor memory</a:t>
            </a:r>
          </a:p>
          <a:p>
            <a:endParaRPr lang="en-US" sz="2400" dirty="0"/>
          </a:p>
          <a:p>
            <a:r>
              <a:rPr lang="en-US" sz="2400" dirty="0" smtClean="0"/>
              <a:t>Blocks replicated to another executor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2816025"/>
            <a:ext cx="1153668" cy="115366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53663" y="1843156"/>
            <a:ext cx="1270668" cy="119951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47758" y="3742496"/>
            <a:ext cx="1153668" cy="11536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4572342"/>
            <a:ext cx="1153668" cy="115366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56837" y="3936422"/>
            <a:ext cx="1270668" cy="116789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368084" y="1925536"/>
            <a:ext cx="2484198" cy="716319"/>
            <a:chOff x="6368084" y="1925536"/>
            <a:chExt cx="2429435" cy="716317"/>
          </a:xfrm>
        </p:grpSpPr>
        <p:sp>
          <p:nvSpPr>
            <p:cNvPr id="15" name="Left Arrow 14"/>
            <p:cNvSpPr/>
            <p:nvPr/>
          </p:nvSpPr>
          <p:spPr>
            <a:xfrm>
              <a:off x="7408842" y="2291075"/>
              <a:ext cx="1252781" cy="263577"/>
            </a:xfrm>
            <a:prstGeom prst="leftArrow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mtClean="0">
                <a:solidFill>
                  <a:prstClr val="white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 rot="5400000">
              <a:off x="6661450" y="1917982"/>
              <a:ext cx="430505" cy="101723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Receiver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 rot="5400000">
              <a:off x="7890754" y="1449277"/>
              <a:ext cx="430505" cy="138302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Input stream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371257" y="2567918"/>
            <a:ext cx="2462239" cy="496213"/>
            <a:chOff x="6371258" y="2567919"/>
            <a:chExt cx="2407960" cy="496212"/>
          </a:xfrm>
        </p:grpSpPr>
        <p:grpSp>
          <p:nvGrpSpPr>
            <p:cNvPr id="7" name="Group 6"/>
            <p:cNvGrpSpPr/>
            <p:nvPr/>
          </p:nvGrpSpPr>
          <p:grpSpPr>
            <a:xfrm>
              <a:off x="6371258" y="2775392"/>
              <a:ext cx="1029501" cy="169516"/>
              <a:chOff x="6371258" y="2775392"/>
              <a:chExt cx="1029501" cy="169516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6371258" y="2783950"/>
                <a:ext cx="258710" cy="160958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751010" y="2783950"/>
                <a:ext cx="258710" cy="160958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7142049" y="2775392"/>
                <a:ext cx="258710" cy="160958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35" name="Rounded Rectangle 34"/>
            <p:cNvSpPr/>
            <p:nvPr/>
          </p:nvSpPr>
          <p:spPr>
            <a:xfrm rot="5400000">
              <a:off x="7892964" y="2177876"/>
              <a:ext cx="496212" cy="127629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Input  blocks in memory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370586" y="4604912"/>
            <a:ext cx="2342680" cy="496213"/>
            <a:chOff x="6370586" y="4604913"/>
            <a:chExt cx="2291037" cy="496212"/>
          </a:xfrm>
        </p:grpSpPr>
        <p:grpSp>
          <p:nvGrpSpPr>
            <p:cNvPr id="9" name="Group 8"/>
            <p:cNvGrpSpPr/>
            <p:nvPr/>
          </p:nvGrpSpPr>
          <p:grpSpPr>
            <a:xfrm>
              <a:off x="6370586" y="4813303"/>
              <a:ext cx="1029501" cy="169516"/>
              <a:chOff x="6370586" y="4813303"/>
              <a:chExt cx="1029501" cy="169516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6370586" y="4821861"/>
                <a:ext cx="258710" cy="160958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6750338" y="4821861"/>
                <a:ext cx="258710" cy="160958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7141377" y="4813303"/>
                <a:ext cx="258710" cy="160958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37" name="Rounded Rectangle 36"/>
            <p:cNvSpPr/>
            <p:nvPr/>
          </p:nvSpPr>
          <p:spPr>
            <a:xfrm rot="5400000">
              <a:off x="7844833" y="4284334"/>
              <a:ext cx="496212" cy="113736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Replicas</a:t>
              </a:r>
            </a:p>
            <a:p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in memory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741671" y="3061139"/>
            <a:ext cx="1742172" cy="826631"/>
            <a:chOff x="6741671" y="3061139"/>
            <a:chExt cx="1703767" cy="826629"/>
          </a:xfrm>
        </p:grpSpPr>
        <p:grpSp>
          <p:nvGrpSpPr>
            <p:cNvPr id="4" name="Group 3"/>
            <p:cNvGrpSpPr/>
            <p:nvPr/>
          </p:nvGrpSpPr>
          <p:grpSpPr>
            <a:xfrm>
              <a:off x="6741671" y="3061139"/>
              <a:ext cx="263577" cy="826629"/>
              <a:chOff x="6741671" y="3155219"/>
              <a:chExt cx="263577" cy="826629"/>
            </a:xfrm>
          </p:grpSpPr>
          <p:sp>
            <p:nvSpPr>
              <p:cNvPr id="16" name="Left Arrow 15"/>
              <p:cNvSpPr/>
              <p:nvPr/>
            </p:nvSpPr>
            <p:spPr>
              <a:xfrm rot="16200000">
                <a:off x="6753784" y="3730384"/>
                <a:ext cx="239351" cy="263577"/>
              </a:xfrm>
              <a:prstGeom prst="lef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809942" y="3155219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6809942" y="3448738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38" name="Rounded Rectangle 37"/>
            <p:cNvSpPr/>
            <p:nvPr/>
          </p:nvSpPr>
          <p:spPr>
            <a:xfrm rot="5400000">
              <a:off x="7479473" y="2734541"/>
              <a:ext cx="496212" cy="143571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Replicate blocks</a:t>
              </a:r>
            </a:p>
          </p:txBody>
        </p:sp>
      </p:grpSp>
      <p:sp>
        <p:nvSpPr>
          <p:cNvPr id="39" name="Rounded Rectangle 38"/>
          <p:cNvSpPr/>
          <p:nvPr/>
        </p:nvSpPr>
        <p:spPr>
          <a:xfrm rot="5400000">
            <a:off x="4370469" y="4499531"/>
            <a:ext cx="430508" cy="104016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Driver</a:t>
            </a:r>
          </a:p>
        </p:txBody>
      </p:sp>
      <p:sp>
        <p:nvSpPr>
          <p:cNvPr id="40" name="Rounded Rectangle 39"/>
          <p:cNvSpPr/>
          <p:nvPr/>
        </p:nvSpPr>
        <p:spPr>
          <a:xfrm rot="5400000">
            <a:off x="6675416" y="5212392"/>
            <a:ext cx="430507" cy="126716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Workers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2465" y="2211348"/>
            <a:ext cx="1514619" cy="183483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Application</a:t>
            </a:r>
          </a:p>
        </p:txBody>
      </p:sp>
      <p:sp>
        <p:nvSpPr>
          <p:cNvPr id="42" name="Rounded Rectangle 41"/>
          <p:cNvSpPr/>
          <p:nvPr/>
        </p:nvSpPr>
        <p:spPr>
          <a:xfrm rot="5400000">
            <a:off x="4265642" y="2288122"/>
            <a:ext cx="559387" cy="12671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Streaming</a:t>
            </a:r>
          </a:p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Context</a:t>
            </a:r>
          </a:p>
        </p:txBody>
      </p:sp>
      <p:sp>
        <p:nvSpPr>
          <p:cNvPr id="44" name="Rounded Rectangle 43"/>
          <p:cNvSpPr/>
          <p:nvPr/>
        </p:nvSpPr>
        <p:spPr>
          <a:xfrm rot="5400000">
            <a:off x="4268368" y="3021531"/>
            <a:ext cx="559387" cy="12671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Spark</a:t>
            </a:r>
          </a:p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242386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Streaming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3288954" cy="4251355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Saved </a:t>
            </a:r>
            <a:r>
              <a:rPr lang="en-US" sz="2400" dirty="0"/>
              <a:t>blocks reported to StreamingContext</a:t>
            </a:r>
          </a:p>
          <a:p>
            <a:endParaRPr lang="en-US" sz="2400" dirty="0" smtClean="0"/>
          </a:p>
          <a:p>
            <a:r>
              <a:rPr lang="en-US" sz="2400" dirty="0" smtClean="0"/>
              <a:t>After every batch interval, StreamingContext treats received blocks as RDDs, and launches Spark jobs on </a:t>
            </a:r>
            <a:r>
              <a:rPr lang="en-US" sz="2400" dirty="0" err="1" smtClean="0"/>
              <a:t>SparkCtxt</a:t>
            </a:r>
            <a:endParaRPr lang="en-US" sz="24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7" y="2816024"/>
            <a:ext cx="1224271" cy="1224271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53663" y="1843156"/>
            <a:ext cx="1348431" cy="119951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47757" y="3742495"/>
            <a:ext cx="1224271" cy="12242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7" y="4572341"/>
            <a:ext cx="1224271" cy="1224271"/>
          </a:xfrm>
          <a:prstGeom prst="rect">
            <a:avLst/>
          </a:prstGeom>
        </p:spPr>
      </p:pic>
      <p:sp>
        <p:nvSpPr>
          <p:cNvPr id="15" name="Left Arrow 14"/>
          <p:cNvSpPr/>
          <p:nvPr/>
        </p:nvSpPr>
        <p:spPr>
          <a:xfrm>
            <a:off x="7408842" y="2291075"/>
            <a:ext cx="1359417" cy="263578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1" name="Rounded Rectangle 20"/>
          <p:cNvSpPr/>
          <p:nvPr/>
        </p:nvSpPr>
        <p:spPr>
          <a:xfrm rot="5400000">
            <a:off x="6704742" y="1874690"/>
            <a:ext cx="430508" cy="11038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1257" y="2783950"/>
            <a:ext cx="28073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51009" y="2783950"/>
            <a:ext cx="28073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42048" y="2775392"/>
            <a:ext cx="28073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92466" y="1843156"/>
            <a:ext cx="1607312" cy="220303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Helvetica Neue Light"/>
                <a:cs typeface="Helvetica Neue Light"/>
              </a:rPr>
              <a:t>Application</a:t>
            </a:r>
            <a:endParaRPr lang="en-US" b="1" dirty="0" smtClean="0">
              <a:solidFill>
                <a:prstClr val="black"/>
              </a:solidFill>
              <a:latin typeface="Helvetica Neue Light"/>
              <a:cs typeface="Helvetica Neue Ligh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56837" y="3936422"/>
            <a:ext cx="1348431" cy="116789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585" y="4821861"/>
            <a:ext cx="28073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750337" y="4821861"/>
            <a:ext cx="28073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41376" y="4813303"/>
            <a:ext cx="28073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32" name="Rounded Rectangle 31"/>
          <p:cNvSpPr/>
          <p:nvPr/>
        </p:nvSpPr>
        <p:spPr>
          <a:xfrm rot="5400000">
            <a:off x="4304416" y="1859576"/>
            <a:ext cx="559387" cy="13447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Streaming</a:t>
            </a:r>
          </a:p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Context</a:t>
            </a:r>
          </a:p>
        </p:txBody>
      </p:sp>
      <p:sp>
        <p:nvSpPr>
          <p:cNvPr id="34" name="Rounded Rectangle 33"/>
          <p:cNvSpPr/>
          <p:nvPr/>
        </p:nvSpPr>
        <p:spPr>
          <a:xfrm rot="5400000">
            <a:off x="4307142" y="2982756"/>
            <a:ext cx="559387" cy="13447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Spark</a:t>
            </a:r>
          </a:p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Context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392022" y="2837903"/>
            <a:ext cx="1103826" cy="474797"/>
            <a:chOff x="4392022" y="2837904"/>
            <a:chExt cx="1017239" cy="474796"/>
          </a:xfrm>
        </p:grpSpPr>
        <p:sp>
          <p:nvSpPr>
            <p:cNvPr id="35" name="Left Arrow 34"/>
            <p:cNvSpPr/>
            <p:nvPr/>
          </p:nvSpPr>
          <p:spPr>
            <a:xfrm rot="16200000">
              <a:off x="4317773" y="2974873"/>
              <a:ext cx="412076" cy="263577"/>
            </a:xfrm>
            <a:prstGeom prst="leftArrow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mtClean="0">
                <a:solidFill>
                  <a:prstClr val="white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 rot="5400000">
              <a:off x="4685389" y="2544538"/>
              <a:ext cx="430505" cy="101723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Jobs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 rot="5400000">
            <a:off x="7949614" y="1390418"/>
            <a:ext cx="430508" cy="15007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Input stream</a:t>
            </a:r>
          </a:p>
        </p:txBody>
      </p:sp>
      <p:sp>
        <p:nvSpPr>
          <p:cNvPr id="46" name="Rounded Rectangle 45"/>
          <p:cNvSpPr/>
          <p:nvPr/>
        </p:nvSpPr>
        <p:spPr>
          <a:xfrm rot="5400000">
            <a:off x="4402297" y="4467702"/>
            <a:ext cx="430508" cy="110382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Driver</a:t>
            </a:r>
          </a:p>
        </p:txBody>
      </p:sp>
      <p:sp>
        <p:nvSpPr>
          <p:cNvPr id="47" name="Rounded Rectangle 46"/>
          <p:cNvSpPr/>
          <p:nvPr/>
        </p:nvSpPr>
        <p:spPr>
          <a:xfrm rot="5400000">
            <a:off x="6714190" y="5173617"/>
            <a:ext cx="430507" cy="134471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Workers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158326" y="1925537"/>
            <a:ext cx="1320696" cy="686955"/>
            <a:chOff x="5158326" y="1925537"/>
            <a:chExt cx="1217097" cy="686953"/>
          </a:xfrm>
        </p:grpSpPr>
        <p:grpSp>
          <p:nvGrpSpPr>
            <p:cNvPr id="48" name="Group 47"/>
            <p:cNvGrpSpPr/>
            <p:nvPr/>
          </p:nvGrpSpPr>
          <p:grpSpPr>
            <a:xfrm rot="5400000">
              <a:off x="5635086" y="1872153"/>
              <a:ext cx="263577" cy="1217097"/>
              <a:chOff x="6894071" y="3213539"/>
              <a:chExt cx="263577" cy="826629"/>
            </a:xfrm>
          </p:grpSpPr>
          <p:sp>
            <p:nvSpPr>
              <p:cNvPr id="49" name="Left Arrow 48"/>
              <p:cNvSpPr/>
              <p:nvPr/>
            </p:nvSpPr>
            <p:spPr>
              <a:xfrm rot="16200000">
                <a:off x="6906184" y="3788704"/>
                <a:ext cx="239351" cy="263577"/>
              </a:xfrm>
              <a:prstGeom prst="lef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6962342" y="3213539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6962342" y="3507058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52" name="Rounded Rectangle 51"/>
            <p:cNvSpPr/>
            <p:nvPr/>
          </p:nvSpPr>
          <p:spPr>
            <a:xfrm rot="5400000">
              <a:off x="5539162" y="1638120"/>
              <a:ext cx="430505" cy="100534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Report blocks</a:t>
              </a:r>
            </a:p>
          </p:txBody>
        </p:sp>
      </p:grpSp>
      <p:sp>
        <p:nvSpPr>
          <p:cNvPr id="53" name="Left Arrow 52"/>
          <p:cNvSpPr/>
          <p:nvPr/>
        </p:nvSpPr>
        <p:spPr>
          <a:xfrm rot="16200000">
            <a:off x="6765002" y="3625085"/>
            <a:ext cx="239352" cy="286013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809941" y="3061139"/>
            <a:ext cx="136111" cy="219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809941" y="3354658"/>
            <a:ext cx="136111" cy="219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6" name="Rounded Rectangle 55"/>
          <p:cNvSpPr/>
          <p:nvPr/>
        </p:nvSpPr>
        <p:spPr>
          <a:xfrm rot="5400000">
            <a:off x="7540576" y="2673437"/>
            <a:ext cx="496213" cy="155792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Replicate blocks</a:t>
            </a:r>
          </a:p>
        </p:txBody>
      </p:sp>
    </p:spTree>
    <p:extLst>
      <p:ext uri="{BB962C8B-B14F-4D97-AF65-F5344CB8AC3E}">
        <p14:creationId xmlns:p14="http://schemas.microsoft.com/office/powerpoint/2010/main" val="194131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Streaming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3159594" cy="425135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SparkContext runs jobs by running tasks to process the blocks in executors’ memory</a:t>
            </a:r>
          </a:p>
          <a:p>
            <a:endParaRPr lang="en-US" sz="2400" dirty="0"/>
          </a:p>
          <a:p>
            <a:r>
              <a:rPr lang="en-US" sz="2400" dirty="0" smtClean="0"/>
              <a:t>This cycle continues every batch interval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2816025"/>
            <a:ext cx="1236696" cy="123669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53663" y="1843156"/>
            <a:ext cx="1362117" cy="119951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47758" y="3742496"/>
            <a:ext cx="1236696" cy="12366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4572342"/>
            <a:ext cx="1236696" cy="1236696"/>
          </a:xfrm>
          <a:prstGeom prst="rect">
            <a:avLst/>
          </a:prstGeom>
        </p:spPr>
      </p:pic>
      <p:sp>
        <p:nvSpPr>
          <p:cNvPr id="15" name="Left Arrow 14"/>
          <p:cNvSpPr/>
          <p:nvPr/>
        </p:nvSpPr>
        <p:spPr>
          <a:xfrm>
            <a:off x="7408842" y="2291075"/>
            <a:ext cx="1373214" cy="263578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1" name="Rounded Rectangle 20"/>
          <p:cNvSpPr/>
          <p:nvPr/>
        </p:nvSpPr>
        <p:spPr>
          <a:xfrm rot="5400000">
            <a:off x="6710344" y="1869089"/>
            <a:ext cx="430508" cy="11150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1257" y="2783950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51009" y="2783950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42048" y="2775392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92465" y="1843156"/>
            <a:ext cx="1623625" cy="220303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Helvetica Neue Light"/>
                <a:cs typeface="Helvetica Neue Light"/>
              </a:rPr>
              <a:t>Application</a:t>
            </a:r>
            <a:endParaRPr lang="en-US" b="1" dirty="0" smtClean="0">
              <a:solidFill>
                <a:prstClr val="black"/>
              </a:solidFill>
              <a:latin typeface="Helvetica Neue Light"/>
              <a:cs typeface="Helvetica Neue Ligh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56837" y="3936422"/>
            <a:ext cx="1362117" cy="116789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585" y="4821861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750337" y="4821861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41376" y="4813303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32" name="Rounded Rectangle 31"/>
          <p:cNvSpPr/>
          <p:nvPr/>
        </p:nvSpPr>
        <p:spPr>
          <a:xfrm rot="5400000">
            <a:off x="4311240" y="1852752"/>
            <a:ext cx="559387" cy="13583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Streaming</a:t>
            </a:r>
          </a:p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Context</a:t>
            </a:r>
          </a:p>
        </p:txBody>
      </p:sp>
      <p:sp>
        <p:nvSpPr>
          <p:cNvPr id="34" name="Rounded Rectangle 33"/>
          <p:cNvSpPr/>
          <p:nvPr/>
        </p:nvSpPr>
        <p:spPr>
          <a:xfrm rot="5400000">
            <a:off x="4313966" y="2975932"/>
            <a:ext cx="559387" cy="13583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Spark</a:t>
            </a:r>
          </a:p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Context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392022" y="2837903"/>
            <a:ext cx="1115029" cy="474797"/>
            <a:chOff x="4392022" y="2837904"/>
            <a:chExt cx="1017239" cy="474796"/>
          </a:xfrm>
        </p:grpSpPr>
        <p:sp>
          <p:nvSpPr>
            <p:cNvPr id="35" name="Left Arrow 34"/>
            <p:cNvSpPr/>
            <p:nvPr/>
          </p:nvSpPr>
          <p:spPr>
            <a:xfrm rot="16200000">
              <a:off x="4317773" y="2974873"/>
              <a:ext cx="412076" cy="263577"/>
            </a:xfrm>
            <a:prstGeom prst="leftArrow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mtClean="0">
                <a:solidFill>
                  <a:prstClr val="white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 rot="5400000">
              <a:off x="4685389" y="2544538"/>
              <a:ext cx="430505" cy="101723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Jobs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230184" y="3096062"/>
            <a:ext cx="1365110" cy="1092324"/>
            <a:chOff x="5230184" y="3096062"/>
            <a:chExt cx="1245387" cy="1092321"/>
          </a:xfrm>
        </p:grpSpPr>
        <p:sp>
          <p:nvSpPr>
            <p:cNvPr id="39" name="Left Arrow 38"/>
            <p:cNvSpPr/>
            <p:nvPr/>
          </p:nvSpPr>
          <p:spPr>
            <a:xfrm rot="9590238">
              <a:off x="5340997" y="3096062"/>
              <a:ext cx="1031322" cy="263577"/>
            </a:xfrm>
            <a:prstGeom prst="leftArrow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mtClean="0">
                <a:solidFill>
                  <a:prstClr val="white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40" name="Left Arrow 39"/>
            <p:cNvSpPr/>
            <p:nvPr/>
          </p:nvSpPr>
          <p:spPr>
            <a:xfrm rot="12034420">
              <a:off x="5340471" y="3924806"/>
              <a:ext cx="1031322" cy="263577"/>
            </a:xfrm>
            <a:prstGeom prst="leftArrow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mtClean="0">
                <a:solidFill>
                  <a:prstClr val="white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 rot="5400000">
              <a:off x="5637625" y="2964487"/>
              <a:ext cx="430505" cy="124538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r"/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Tasks </a:t>
              </a:r>
            </a:p>
            <a:p>
              <a:pPr algn="r"/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to process blocks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 rot="5400000">
            <a:off x="7957230" y="1382802"/>
            <a:ext cx="430508" cy="15159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Input stream</a:t>
            </a:r>
          </a:p>
        </p:txBody>
      </p:sp>
      <p:sp>
        <p:nvSpPr>
          <p:cNvPr id="46" name="Rounded Rectangle 45"/>
          <p:cNvSpPr/>
          <p:nvPr/>
        </p:nvSpPr>
        <p:spPr>
          <a:xfrm rot="5400000">
            <a:off x="4407899" y="4462101"/>
            <a:ext cx="430508" cy="11150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Driver</a:t>
            </a:r>
          </a:p>
        </p:txBody>
      </p:sp>
      <p:sp>
        <p:nvSpPr>
          <p:cNvPr id="47" name="Rounded Rectangle 46"/>
          <p:cNvSpPr/>
          <p:nvPr/>
        </p:nvSpPr>
        <p:spPr>
          <a:xfrm rot="5400000">
            <a:off x="6721014" y="5166793"/>
            <a:ext cx="430507" cy="13583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Workers</a:t>
            </a:r>
          </a:p>
        </p:txBody>
      </p:sp>
      <p:grpSp>
        <p:nvGrpSpPr>
          <p:cNvPr id="48" name="Group 47"/>
          <p:cNvGrpSpPr/>
          <p:nvPr/>
        </p:nvGrpSpPr>
        <p:grpSpPr>
          <a:xfrm rot="5400000">
            <a:off x="5693586" y="1813652"/>
            <a:ext cx="263578" cy="1334100"/>
            <a:chOff x="6894071" y="3213539"/>
            <a:chExt cx="263577" cy="826629"/>
          </a:xfrm>
        </p:grpSpPr>
        <p:sp>
          <p:nvSpPr>
            <p:cNvPr id="49" name="Left Arrow 48"/>
            <p:cNvSpPr/>
            <p:nvPr/>
          </p:nvSpPr>
          <p:spPr>
            <a:xfrm rot="16200000">
              <a:off x="6906184" y="3788704"/>
              <a:ext cx="239351" cy="263577"/>
            </a:xfrm>
            <a:prstGeom prst="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mtClean="0">
                <a:solidFill>
                  <a:prstClr val="white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962342" y="3213539"/>
              <a:ext cx="125434" cy="219519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mtClean="0">
                <a:solidFill>
                  <a:prstClr val="white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962342" y="3507058"/>
              <a:ext cx="125434" cy="219519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mtClean="0">
                <a:solidFill>
                  <a:prstClr val="white"/>
                </a:solidFill>
                <a:latin typeface="Helvetica Neue Light"/>
                <a:cs typeface="Helvetica Neue Light"/>
              </a:endParaRPr>
            </a:p>
          </p:txBody>
        </p:sp>
      </p:grpSp>
      <p:sp>
        <p:nvSpPr>
          <p:cNvPr id="52" name="Rounded Rectangle 51"/>
          <p:cNvSpPr/>
          <p:nvPr/>
        </p:nvSpPr>
        <p:spPr>
          <a:xfrm rot="5400000">
            <a:off x="5587484" y="1589799"/>
            <a:ext cx="430508" cy="11019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Report blocks</a:t>
            </a:r>
          </a:p>
        </p:txBody>
      </p:sp>
      <p:sp>
        <p:nvSpPr>
          <p:cNvPr id="53" name="Left Arrow 52"/>
          <p:cNvSpPr/>
          <p:nvPr/>
        </p:nvSpPr>
        <p:spPr>
          <a:xfrm rot="16200000">
            <a:off x="6766453" y="3623634"/>
            <a:ext cx="239352" cy="28891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809942" y="3061139"/>
            <a:ext cx="137492" cy="219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809942" y="3354658"/>
            <a:ext cx="137492" cy="219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6" name="Rounded Rectangle 55"/>
          <p:cNvSpPr/>
          <p:nvPr/>
        </p:nvSpPr>
        <p:spPr>
          <a:xfrm rot="5400000">
            <a:off x="7548482" y="2665531"/>
            <a:ext cx="496213" cy="15737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Replicate blocks</a:t>
            </a:r>
          </a:p>
        </p:txBody>
      </p:sp>
    </p:spTree>
    <p:extLst>
      <p:ext uri="{BB962C8B-B14F-4D97-AF65-F5344CB8AC3E}">
        <p14:creationId xmlns:p14="http://schemas.microsoft.com/office/powerpoint/2010/main" val="257777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Recovery from driver failures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183288" cy="4734779"/>
          </a:xfrm>
        </p:spPr>
        <p:txBody>
          <a:bodyPr>
            <a:normAutofit/>
          </a:bodyPr>
          <a:lstStyle/>
          <a:p>
            <a:r>
              <a:rPr lang="en-US" dirty="0"/>
              <a:t>Since all the RDD computation is deterministic, all processing state can be recovered by 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Metadata:</a:t>
            </a:r>
            <a:r>
              <a:rPr lang="en-US" dirty="0" smtClean="0"/>
              <a:t> Recovering DAG of DStream and deterministically regenerate the RDDs </a:t>
            </a:r>
          </a:p>
          <a:p>
            <a:pPr lvl="1"/>
            <a:r>
              <a:rPr lang="en-US" dirty="0" smtClean="0">
                <a:solidFill>
                  <a:schemeClr val="accent3"/>
                </a:solidFill>
              </a:rPr>
              <a:t>Data: </a:t>
            </a:r>
            <a:r>
              <a:rPr lang="en-US" dirty="0"/>
              <a:t>Input </a:t>
            </a:r>
            <a:r>
              <a:rPr lang="en-US" dirty="0" smtClean="0"/>
              <a:t>data and all </a:t>
            </a:r>
            <a:r>
              <a:rPr lang="en-US" dirty="0" err="1" smtClean="0"/>
              <a:t>checkpointed</a:t>
            </a:r>
            <a:r>
              <a:rPr lang="en-US" dirty="0" smtClean="0"/>
              <a:t> RDDs</a:t>
            </a:r>
          </a:p>
          <a:p>
            <a:pPr lvl="1"/>
            <a:endParaRPr lang="en-US" dirty="0">
              <a:solidFill>
                <a:schemeClr val="accent3"/>
              </a:solidFill>
            </a:endParaRPr>
          </a:p>
          <a:p>
            <a:pPr lvl="1"/>
            <a:endParaRPr lang="en-US" dirty="0" smtClean="0">
              <a:solidFill>
                <a:schemeClr val="accent3"/>
              </a:solidFill>
            </a:endParaRPr>
          </a:p>
          <a:p>
            <a:r>
              <a:rPr lang="en-US" dirty="0" smtClean="0"/>
              <a:t>Spark Streaming “checkpointing” must save both data and metadata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52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Metadata checkpointing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03512" y="1600200"/>
            <a:ext cx="2499350" cy="425135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Received blocks and queue of jobs saved to reliable store after every batch interval</a:t>
            </a:r>
          </a:p>
          <a:p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7" y="2816024"/>
            <a:ext cx="1245631" cy="1245631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53663" y="1843156"/>
            <a:ext cx="1371958" cy="119951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latin typeface="Helvetica Neue Light"/>
                <a:cs typeface="Helvetica Neue Light"/>
              </a:rPr>
              <a:t>Executor</a:t>
            </a:r>
            <a:endParaRPr lang="en-US" b="1" dirty="0">
              <a:latin typeface="Helvetica Neue Light"/>
              <a:cs typeface="Helvetica Neue Ligh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47757" y="3742495"/>
            <a:ext cx="1245631" cy="12456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7" y="4572341"/>
            <a:ext cx="1245631" cy="1245631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6741671" y="3061139"/>
            <a:ext cx="291003" cy="826631"/>
            <a:chOff x="6741671" y="3155219"/>
            <a:chExt cx="263577" cy="826629"/>
          </a:xfrm>
        </p:grpSpPr>
        <p:sp>
          <p:nvSpPr>
            <p:cNvPr id="16" name="Left Arrow 15"/>
            <p:cNvSpPr/>
            <p:nvPr/>
          </p:nvSpPr>
          <p:spPr>
            <a:xfrm rot="16200000">
              <a:off x="6753784" y="3730384"/>
              <a:ext cx="239351" cy="263577"/>
            </a:xfrm>
            <a:prstGeom prst="lef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 Light"/>
                <a:cs typeface="Helvetica Neue Light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809942" y="3155219"/>
              <a:ext cx="125434" cy="21951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 Light"/>
                <a:cs typeface="Helvetica Neue Ligh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09942" y="3448738"/>
              <a:ext cx="125434" cy="21951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 Light"/>
                <a:cs typeface="Helvetica Neue Light"/>
              </a:endParaRPr>
            </a:p>
          </p:txBody>
        </p:sp>
      </p:grpSp>
      <p:sp>
        <p:nvSpPr>
          <p:cNvPr id="21" name="Rounded Rectangle 20"/>
          <p:cNvSpPr/>
          <p:nvPr/>
        </p:nvSpPr>
        <p:spPr>
          <a:xfrm rot="5400000">
            <a:off x="6714371" y="1865061"/>
            <a:ext cx="430508" cy="1123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Receiver</a:t>
            </a:r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71257" y="2783950"/>
            <a:ext cx="285629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 Light"/>
              <a:cs typeface="Helvetica Neue Ligh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51009" y="2783950"/>
            <a:ext cx="285629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 Light"/>
              <a:cs typeface="Helvetica Neue Ligh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42048" y="2775392"/>
            <a:ext cx="285629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 Light"/>
              <a:cs typeface="Helvetica Neue Ligh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92465" y="1843156"/>
            <a:ext cx="1635355" cy="2203032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Helvetica Neue Light"/>
                <a:cs typeface="Helvetica Neue Light"/>
              </a:rPr>
              <a:t>Application</a:t>
            </a:r>
            <a:endParaRPr lang="en-US" b="1" dirty="0">
              <a:latin typeface="Helvetica Neue Light"/>
              <a:cs typeface="Helvetica Neue Ligh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56837" y="3936422"/>
            <a:ext cx="1371958" cy="116789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latin typeface="Helvetica Neue Light"/>
                <a:cs typeface="Helvetica Neue Light"/>
              </a:rPr>
              <a:t>Executor</a:t>
            </a:r>
            <a:endParaRPr lang="en-US" b="1" dirty="0">
              <a:latin typeface="Helvetica Neue Light"/>
              <a:cs typeface="Helvetica Neue Ligh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70585" y="4821861"/>
            <a:ext cx="285629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 Light"/>
              <a:cs typeface="Helvetica Neue Ligh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750337" y="4821861"/>
            <a:ext cx="285629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 Light"/>
              <a:cs typeface="Helvetica Neue Ligh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41376" y="4813303"/>
            <a:ext cx="285629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 Light"/>
              <a:cs typeface="Helvetica Neue Light"/>
            </a:endParaRPr>
          </a:p>
        </p:txBody>
      </p:sp>
      <p:sp>
        <p:nvSpPr>
          <p:cNvPr id="32" name="Rounded Rectangle 31"/>
          <p:cNvSpPr/>
          <p:nvPr/>
        </p:nvSpPr>
        <p:spPr>
          <a:xfrm rot="5400000">
            <a:off x="4316147" y="1847846"/>
            <a:ext cx="559387" cy="13681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Streaming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Context</a:t>
            </a:r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34" name="Rounded Rectangle 33"/>
          <p:cNvSpPr/>
          <p:nvPr/>
        </p:nvSpPr>
        <p:spPr>
          <a:xfrm rot="5400000">
            <a:off x="4318873" y="2971026"/>
            <a:ext cx="559387" cy="13681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Spark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Context</a:t>
            </a:r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35" name="Left Arrow 34"/>
          <p:cNvSpPr/>
          <p:nvPr/>
        </p:nvSpPr>
        <p:spPr>
          <a:xfrm rot="16200000">
            <a:off x="4331487" y="2961159"/>
            <a:ext cx="412077" cy="291005"/>
          </a:xfrm>
          <a:prstGeom prst="lef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 Light"/>
              <a:cs typeface="Helvetica Neue Light"/>
            </a:endParaRPr>
          </a:p>
        </p:txBody>
      </p:sp>
      <p:sp>
        <p:nvSpPr>
          <p:cNvPr id="33" name="Rounded Rectangle 32"/>
          <p:cNvSpPr/>
          <p:nvPr/>
        </p:nvSpPr>
        <p:spPr>
          <a:xfrm rot="5400000">
            <a:off x="4423806" y="4350426"/>
            <a:ext cx="430508" cy="137518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latin typeface="Helvetica Neue"/>
                <a:cs typeface="Helvetica Neue"/>
              </a:rPr>
              <a:t>Driver</a:t>
            </a:r>
            <a:endParaRPr lang="en-US" dirty="0">
              <a:latin typeface="Helvetica Neue"/>
              <a:cs typeface="Helvetica Neue"/>
            </a:endParaRPr>
          </a:p>
        </p:txBody>
      </p:sp>
      <p:sp>
        <p:nvSpPr>
          <p:cNvPr id="36" name="Rounded Rectangle 35"/>
          <p:cNvSpPr/>
          <p:nvPr/>
        </p:nvSpPr>
        <p:spPr>
          <a:xfrm rot="5400000">
            <a:off x="6726251" y="5176786"/>
            <a:ext cx="430507" cy="137518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latin typeface="Helvetica Neue"/>
                <a:cs typeface="Helvetica Neue"/>
              </a:rPr>
              <a:t>Workers</a:t>
            </a:r>
            <a:endParaRPr lang="en-US" dirty="0">
              <a:latin typeface="Helvetica Neue"/>
              <a:cs typeface="Helvetica Neue"/>
            </a:endParaRPr>
          </a:p>
        </p:txBody>
      </p:sp>
      <p:sp>
        <p:nvSpPr>
          <p:cNvPr id="47" name="Rounded Rectangle 46"/>
          <p:cNvSpPr/>
          <p:nvPr/>
        </p:nvSpPr>
        <p:spPr>
          <a:xfrm rot="5400000">
            <a:off x="4738310" y="2491617"/>
            <a:ext cx="430508" cy="11230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Jobs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725375" y="2302894"/>
            <a:ext cx="1347453" cy="2950381"/>
            <a:chOff x="2725376" y="2302895"/>
            <a:chExt cx="1220462" cy="2950374"/>
          </a:xfrm>
        </p:grpSpPr>
        <p:grpSp>
          <p:nvGrpSpPr>
            <p:cNvPr id="3" name="Group 2"/>
            <p:cNvGrpSpPr/>
            <p:nvPr/>
          </p:nvGrpSpPr>
          <p:grpSpPr>
            <a:xfrm>
              <a:off x="3002861" y="3975840"/>
              <a:ext cx="663260" cy="900183"/>
              <a:chOff x="3980177" y="5101125"/>
              <a:chExt cx="663260" cy="1066798"/>
            </a:xfrm>
          </p:grpSpPr>
          <p:pic>
            <p:nvPicPr>
              <p:cNvPr id="50" name="Picture 2"/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0" b="100000" l="1786" r="100000">
                            <a14:backgroundMark x1="60332" y1="29255" x2="60332" y2="2925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86212" y="5634524"/>
                <a:ext cx="657225" cy="533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Picture 2"/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0" b="100000" l="1786" r="100000">
                            <a14:backgroundMark x1="60332" y1="29255" x2="60332" y2="2925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80177" y="5382424"/>
                <a:ext cx="657225" cy="533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8" name="Picture 2"/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1786" r="100000">
                            <a14:backgroundMark x1="60332" y1="29255" x2="60332" y2="2925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86212" y="5101125"/>
                <a:ext cx="657225" cy="533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" name="Bent Arrow 6"/>
            <p:cNvSpPr/>
            <p:nvPr/>
          </p:nvSpPr>
          <p:spPr>
            <a:xfrm rot="5400000" flipV="1">
              <a:off x="2848761" y="2831504"/>
              <a:ext cx="1454743" cy="739411"/>
            </a:xfrm>
            <a:prstGeom prst="bentArrow">
              <a:avLst>
                <a:gd name="adj1" fmla="val 17083"/>
                <a:gd name="adj2" fmla="val 17619"/>
                <a:gd name="adj3" fmla="val 18302"/>
                <a:gd name="adj4" fmla="val 65430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51" name="Rounded Rectangle 50"/>
            <p:cNvSpPr/>
            <p:nvPr/>
          </p:nvSpPr>
          <p:spPr>
            <a:xfrm rot="5400000">
              <a:off x="3115950" y="4529398"/>
              <a:ext cx="430505" cy="101723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 smtClean="0">
                  <a:latin typeface="Helvetica Neue Light"/>
                  <a:cs typeface="Helvetica Neue Light"/>
                </a:rPr>
                <a:t>HDFS</a:t>
              </a:r>
              <a:endParaRPr lang="en-US" b="1" dirty="0">
                <a:latin typeface="Helvetica Neue Light"/>
                <a:cs typeface="Helvetica Neue Light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2725376" y="2302895"/>
              <a:ext cx="430505" cy="187843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latin typeface="Helvetica Neue Light"/>
                  <a:cs typeface="Helvetica Neue Light"/>
                </a:rPr>
                <a:t>Checkpoint metadata</a:t>
              </a:r>
              <a:endParaRPr lang="en-US" dirty="0">
                <a:latin typeface="Helvetica Neue Light"/>
                <a:cs typeface="Helvetica Neue Light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158326" y="1925537"/>
            <a:ext cx="1343738" cy="686955"/>
            <a:chOff x="5158326" y="1925537"/>
            <a:chExt cx="1217097" cy="686953"/>
          </a:xfrm>
        </p:grpSpPr>
        <p:grpSp>
          <p:nvGrpSpPr>
            <p:cNvPr id="45" name="Group 44"/>
            <p:cNvGrpSpPr/>
            <p:nvPr/>
          </p:nvGrpSpPr>
          <p:grpSpPr>
            <a:xfrm rot="5400000">
              <a:off x="5635086" y="1872153"/>
              <a:ext cx="263577" cy="1217097"/>
              <a:chOff x="6894071" y="3213539"/>
              <a:chExt cx="263577" cy="826629"/>
            </a:xfrm>
          </p:grpSpPr>
          <p:sp>
            <p:nvSpPr>
              <p:cNvPr id="52" name="Left Arrow 51"/>
              <p:cNvSpPr/>
              <p:nvPr/>
            </p:nvSpPr>
            <p:spPr>
              <a:xfrm rot="16200000">
                <a:off x="6906184" y="3788704"/>
                <a:ext cx="239351" cy="263577"/>
              </a:xfrm>
              <a:prstGeom prst="lef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6962342" y="3213539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6962342" y="3507058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46" name="Rounded Rectangle 45"/>
            <p:cNvSpPr/>
            <p:nvPr/>
          </p:nvSpPr>
          <p:spPr>
            <a:xfrm rot="5400000">
              <a:off x="5539162" y="1638120"/>
              <a:ext cx="430505" cy="100534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Report blocks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460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Driver Failure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03511" y="1600200"/>
            <a:ext cx="2221865" cy="425135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If driver fails, the app is lost &amp; all the executors are lost</a:t>
            </a:r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47758" y="3742496"/>
            <a:ext cx="1148658" cy="11486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4572342"/>
            <a:ext cx="1148658" cy="114865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 rot="5400000">
            <a:off x="6661450" y="5241587"/>
            <a:ext cx="430505" cy="124558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latin typeface="Helvetica Neue"/>
                <a:cs typeface="Helvetica Neue"/>
              </a:rPr>
              <a:t>Workers</a:t>
            </a:r>
            <a:endParaRPr lang="en-US" dirty="0">
              <a:latin typeface="Helvetica Neue"/>
              <a:cs typeface="Helvetica Neue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002861" y="3975840"/>
            <a:ext cx="675266" cy="881745"/>
            <a:chOff x="3980177" y="5101125"/>
            <a:chExt cx="663260" cy="1066798"/>
          </a:xfrm>
        </p:grpSpPr>
        <p:pic>
          <p:nvPicPr>
            <p:cNvPr id="50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212" y="5634524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0177" y="5382424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212" y="5101125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" name="Rounded Rectangle 50"/>
          <p:cNvSpPr/>
          <p:nvPr/>
        </p:nvSpPr>
        <p:spPr>
          <a:xfrm rot="5400000">
            <a:off x="3129564" y="4515784"/>
            <a:ext cx="421689" cy="103565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latin typeface="Helvetica Neue Light"/>
                <a:cs typeface="Helvetica Neue Light"/>
              </a:rPr>
              <a:t>HDFS</a:t>
            </a:r>
            <a:endParaRPr lang="en-US" b="1" dirty="0">
              <a:latin typeface="Helvetica Neue Light"/>
              <a:cs typeface="Helvetica Neue Ligh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2816025"/>
            <a:ext cx="1148658" cy="1148658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2725375" y="1843156"/>
            <a:ext cx="4860533" cy="3194357"/>
            <a:chOff x="2725376" y="1843156"/>
            <a:chExt cx="4774118" cy="3261153"/>
          </a:xfrm>
        </p:grpSpPr>
        <p:sp>
          <p:nvSpPr>
            <p:cNvPr id="23" name="Rectangle 22"/>
            <p:cNvSpPr/>
            <p:nvPr/>
          </p:nvSpPr>
          <p:spPr>
            <a:xfrm>
              <a:off x="6253663" y="1843156"/>
              <a:ext cx="1242657" cy="1199513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>
                  <a:latin typeface="Helvetica Neue Light"/>
                  <a:cs typeface="Helvetica Neue Light"/>
                </a:rPr>
                <a:t>Executor</a:t>
              </a:r>
              <a:endParaRPr lang="en-US" b="1" dirty="0">
                <a:latin typeface="Helvetica Neue Light"/>
                <a:cs typeface="Helvetica Neue Light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6741671" y="3061139"/>
              <a:ext cx="263577" cy="826629"/>
              <a:chOff x="6741671" y="3155219"/>
              <a:chExt cx="263577" cy="826629"/>
            </a:xfrm>
          </p:grpSpPr>
          <p:sp>
            <p:nvSpPr>
              <p:cNvPr id="16" name="Left Arrow 15"/>
              <p:cNvSpPr/>
              <p:nvPr/>
            </p:nvSpPr>
            <p:spPr>
              <a:xfrm rot="16200000">
                <a:off x="6753784" y="3730384"/>
                <a:ext cx="239351" cy="263577"/>
              </a:xfrm>
              <a:prstGeom prst="lef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809942" y="3155219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6809942" y="3448738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21" name="Rounded Rectangle 20"/>
            <p:cNvSpPr/>
            <p:nvPr/>
          </p:nvSpPr>
          <p:spPr>
            <a:xfrm rot="5400000">
              <a:off x="6661450" y="1917982"/>
              <a:ext cx="430505" cy="101723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latin typeface="Helvetica Neue Light"/>
                  <a:cs typeface="Helvetica Neue Light"/>
                </a:rPr>
                <a:t>Receiver</a:t>
              </a:r>
              <a:endParaRPr lang="en-US" dirty="0">
                <a:latin typeface="Helvetica Neue Light"/>
                <a:cs typeface="Helvetica Neue Light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371258" y="2783950"/>
              <a:ext cx="258710" cy="1609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 Light"/>
                <a:cs typeface="Helvetica Neue Light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751010" y="2783950"/>
              <a:ext cx="258710" cy="1609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 Light"/>
                <a:cs typeface="Helvetica Neue Light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42049" y="2775392"/>
              <a:ext cx="258710" cy="1609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 Light"/>
                <a:cs typeface="Helvetica Neue Light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56837" y="3936422"/>
              <a:ext cx="1242657" cy="116788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>
                  <a:latin typeface="Helvetica Neue Light"/>
                  <a:cs typeface="Helvetica Neue Light"/>
                </a:rPr>
                <a:t>Executor</a:t>
              </a:r>
              <a:endParaRPr lang="en-US" b="1" dirty="0">
                <a:latin typeface="Helvetica Neue Light"/>
                <a:cs typeface="Helvetica Neue Light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370586" y="4821861"/>
              <a:ext cx="258710" cy="1609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 Light"/>
                <a:cs typeface="Helvetica Neue Light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750338" y="4821861"/>
              <a:ext cx="258710" cy="1609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 Light"/>
                <a:cs typeface="Helvetica Neue Light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141377" y="4813303"/>
              <a:ext cx="258710" cy="16095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 Light"/>
                <a:cs typeface="Helvetica Neue Light"/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792466" y="1843156"/>
              <a:ext cx="1616795" cy="2203027"/>
              <a:chOff x="3792466" y="1843156"/>
              <a:chExt cx="1616795" cy="2203027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3792466" y="1843156"/>
                <a:ext cx="1481230" cy="2203027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>
                    <a:solidFill>
                      <a:prstClr val="black"/>
                    </a:solidFill>
                    <a:latin typeface="Helvetica Neue Light"/>
                    <a:cs typeface="Helvetica Neue Light"/>
                  </a:rPr>
                  <a:t>Application</a:t>
                </a:r>
                <a:endParaRPr lang="en-US" b="1" dirty="0"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 rot="5400000">
                <a:off x="4251676" y="1912318"/>
                <a:ext cx="559386" cy="123923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Streaming</a:t>
                </a:r>
              </a:p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Context</a:t>
                </a:r>
                <a:endParaRPr lang="en-US" dirty="0"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 rot="5400000">
                <a:off x="4254402" y="3035498"/>
                <a:ext cx="559386" cy="123923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Spark</a:t>
                </a:r>
              </a:p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Context</a:t>
                </a:r>
                <a:endParaRPr lang="en-US" dirty="0"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35" name="Left Arrow 34"/>
              <p:cNvSpPr/>
              <p:nvPr/>
            </p:nvSpPr>
            <p:spPr>
              <a:xfrm rot="16200000">
                <a:off x="4317773" y="2974873"/>
                <a:ext cx="412076" cy="263577"/>
              </a:xfrm>
              <a:prstGeom prst="leftArrow">
                <a:avLst/>
              </a:prstGeom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 rot="5400000">
                <a:off x="4685389" y="2544538"/>
                <a:ext cx="430505" cy="1017238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 smtClean="0">
                    <a:solidFill>
                      <a:prstClr val="black"/>
                    </a:solidFill>
                    <a:latin typeface="Helvetica Neue Light"/>
                    <a:cs typeface="Helvetica Neue Light"/>
                  </a:rPr>
                  <a:t>Jobs</a:t>
                </a:r>
              </a:p>
            </p:txBody>
          </p:sp>
        </p:grpSp>
        <p:sp>
          <p:nvSpPr>
            <p:cNvPr id="7" name="Bent Arrow 6"/>
            <p:cNvSpPr/>
            <p:nvPr/>
          </p:nvSpPr>
          <p:spPr>
            <a:xfrm rot="5400000" flipV="1">
              <a:off x="2848761" y="2831504"/>
              <a:ext cx="1454743" cy="739411"/>
            </a:xfrm>
            <a:prstGeom prst="bentArrow">
              <a:avLst>
                <a:gd name="adj1" fmla="val 17083"/>
                <a:gd name="adj2" fmla="val 17619"/>
                <a:gd name="adj3" fmla="val 18302"/>
                <a:gd name="adj4" fmla="val 65430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2725376" y="2302895"/>
              <a:ext cx="430505" cy="187843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latin typeface="Helvetica Neue Light"/>
                  <a:cs typeface="Helvetica Neue Light"/>
                </a:rPr>
                <a:t>Checkpoint metadata</a:t>
              </a:r>
              <a:endParaRPr lang="en-US" dirty="0">
                <a:latin typeface="Helvetica Neue Light"/>
                <a:cs typeface="Helvetica Neue Light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5158326" y="1925537"/>
              <a:ext cx="1217097" cy="686953"/>
              <a:chOff x="5158326" y="1925537"/>
              <a:chExt cx="1217097" cy="686953"/>
            </a:xfrm>
          </p:grpSpPr>
          <p:grpSp>
            <p:nvGrpSpPr>
              <p:cNvPr id="45" name="Group 44"/>
              <p:cNvGrpSpPr/>
              <p:nvPr/>
            </p:nvGrpSpPr>
            <p:grpSpPr>
              <a:xfrm rot="5400000">
                <a:off x="5635086" y="1872153"/>
                <a:ext cx="263577" cy="1217097"/>
                <a:chOff x="6894071" y="3213539"/>
                <a:chExt cx="263577" cy="826629"/>
              </a:xfrm>
            </p:grpSpPr>
            <p:sp>
              <p:nvSpPr>
                <p:cNvPr id="52" name="Left Arrow 51"/>
                <p:cNvSpPr/>
                <p:nvPr/>
              </p:nvSpPr>
              <p:spPr>
                <a:xfrm rot="16200000">
                  <a:off x="6906184" y="3788704"/>
                  <a:ext cx="239351" cy="263577"/>
                </a:xfrm>
                <a:prstGeom prst="leftArrow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mtClean="0">
                    <a:solidFill>
                      <a:prstClr val="white"/>
                    </a:solidFill>
                    <a:latin typeface="Helvetica Neue Light"/>
                    <a:cs typeface="Helvetica Neue Light"/>
                  </a:endParaRPr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6962342" y="3213539"/>
                  <a:ext cx="125434" cy="219519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mtClean="0">
                    <a:solidFill>
                      <a:prstClr val="white"/>
                    </a:solidFill>
                    <a:latin typeface="Helvetica Neue Light"/>
                    <a:cs typeface="Helvetica Neue Light"/>
                  </a:endParaRPr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>
                  <a:off x="6962342" y="3507058"/>
                  <a:ext cx="125434" cy="219519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mtClean="0">
                    <a:solidFill>
                      <a:prstClr val="white"/>
                    </a:solidFill>
                    <a:latin typeface="Helvetica Neue Light"/>
                    <a:cs typeface="Helvetica Neue Light"/>
                  </a:endParaRPr>
                </a:p>
              </p:txBody>
            </p:sp>
          </p:grpSp>
          <p:sp>
            <p:nvSpPr>
              <p:cNvPr id="46" name="Rounded Rectangle 45"/>
              <p:cNvSpPr/>
              <p:nvPr/>
            </p:nvSpPr>
            <p:spPr>
              <a:xfrm rot="5400000">
                <a:off x="5539162" y="1638120"/>
                <a:ext cx="430505" cy="100534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 smtClean="0">
                    <a:solidFill>
                      <a:prstClr val="black"/>
                    </a:solidFill>
                    <a:latin typeface="Helvetica Neue Light"/>
                    <a:cs typeface="Helvetica Neue Light"/>
                  </a:rPr>
                  <a:t>Report blocks</a:t>
                </a:r>
              </a:p>
            </p:txBody>
          </p:sp>
        </p:grpSp>
      </p:grpSp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1549" y="3963452"/>
            <a:ext cx="627252" cy="891594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 rot="5400000">
            <a:off x="4374686" y="4399547"/>
            <a:ext cx="421689" cy="12681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latin typeface="Helvetica Neue"/>
                <a:cs typeface="Helvetica Neue"/>
              </a:rPr>
              <a:t>Failed</a:t>
            </a:r>
          </a:p>
          <a:p>
            <a:pPr algn="ctr"/>
            <a:r>
              <a:rPr lang="en-US" dirty="0" smtClean="0">
                <a:latin typeface="Helvetica Neue"/>
                <a:cs typeface="Helvetica Neue"/>
              </a:rPr>
              <a:t>Driver</a:t>
            </a:r>
            <a:endParaRPr lang="en-US" dirty="0">
              <a:latin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8785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Driver Recovery from Checkpoint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03512" y="1600200"/>
            <a:ext cx="2499350" cy="456681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Application can be restarted from </a:t>
            </a:r>
            <a:r>
              <a:rPr lang="en-US" sz="2400" dirty="0" err="1" smtClean="0"/>
              <a:t>checkpointed</a:t>
            </a:r>
            <a:r>
              <a:rPr lang="en-US" sz="2400" dirty="0" smtClean="0"/>
              <a:t> metadata on another driver node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3" name="Group 2"/>
          <p:cNvGrpSpPr/>
          <p:nvPr/>
        </p:nvGrpSpPr>
        <p:grpSpPr>
          <a:xfrm>
            <a:off x="3002861" y="3975840"/>
            <a:ext cx="663260" cy="900183"/>
            <a:chOff x="3980177" y="5101125"/>
            <a:chExt cx="663260" cy="1066798"/>
          </a:xfrm>
        </p:grpSpPr>
        <p:pic>
          <p:nvPicPr>
            <p:cNvPr id="50" name="Picture 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212" y="5634524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0177" y="5382424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Picture 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212" y="5101125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" name="Rounded Rectangle 50"/>
          <p:cNvSpPr/>
          <p:nvPr/>
        </p:nvSpPr>
        <p:spPr>
          <a:xfrm rot="5400000">
            <a:off x="3115950" y="4529398"/>
            <a:ext cx="430505" cy="10172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latin typeface="Helvetica Neue Light"/>
                <a:cs typeface="Helvetica Neue Light"/>
              </a:rPr>
              <a:t>HDFS</a:t>
            </a:r>
            <a:endParaRPr lang="en-US" b="1" dirty="0">
              <a:latin typeface="Helvetica Neue Light"/>
              <a:cs typeface="Helvetica Neue Ligh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47758" y="3742496"/>
            <a:ext cx="1128236" cy="112823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 rot="5400000">
            <a:off x="4359005" y="4415227"/>
            <a:ext cx="430505" cy="124558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latin typeface="Helvetica Neue"/>
                <a:cs typeface="Helvetica Neue"/>
              </a:rPr>
              <a:t>Failed</a:t>
            </a:r>
          </a:p>
          <a:p>
            <a:pPr algn="ctr"/>
            <a:r>
              <a:rPr lang="en-US" dirty="0" smtClean="0">
                <a:latin typeface="Helvetica Neue"/>
                <a:cs typeface="Helvetica Neue"/>
              </a:rPr>
              <a:t>Driver</a:t>
            </a:r>
            <a:endParaRPr lang="en-US" dirty="0">
              <a:latin typeface="Helvetica Neue"/>
              <a:cs typeface="Helvetica Neue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182967" y="3742497"/>
            <a:ext cx="1245582" cy="1510774"/>
            <a:chOff x="5182967" y="3742497"/>
            <a:chExt cx="1245582" cy="1510774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279258" y="3742497"/>
              <a:ext cx="1128236" cy="1128236"/>
            </a:xfrm>
            <a:prstGeom prst="rect">
              <a:avLst/>
            </a:prstGeom>
          </p:spPr>
        </p:pic>
        <p:sp>
          <p:nvSpPr>
            <p:cNvPr id="24" name="Rounded Rectangle 23"/>
            <p:cNvSpPr/>
            <p:nvPr/>
          </p:nvSpPr>
          <p:spPr>
            <a:xfrm rot="5400000">
              <a:off x="5590505" y="4415228"/>
              <a:ext cx="430505" cy="124558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latin typeface="Helvetica Neue"/>
                  <a:cs typeface="Helvetica Neue"/>
                </a:rPr>
                <a:t>Another Driver</a:t>
              </a:r>
              <a:endParaRPr lang="en-US" dirty="0">
                <a:latin typeface="Helvetica Neue"/>
                <a:cs typeface="Helvetica Neue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43961" y="1843157"/>
            <a:ext cx="3361235" cy="2203027"/>
            <a:chOff x="3143961" y="1843157"/>
            <a:chExt cx="3361235" cy="2203027"/>
          </a:xfrm>
        </p:grpSpPr>
        <p:grpSp>
          <p:nvGrpSpPr>
            <p:cNvPr id="9" name="Group 8"/>
            <p:cNvGrpSpPr/>
            <p:nvPr/>
          </p:nvGrpSpPr>
          <p:grpSpPr>
            <a:xfrm>
              <a:off x="3143961" y="2230046"/>
              <a:ext cx="1880005" cy="1745794"/>
              <a:chOff x="3143961" y="2230046"/>
              <a:chExt cx="1880005" cy="1745794"/>
            </a:xfrm>
          </p:grpSpPr>
          <p:sp>
            <p:nvSpPr>
              <p:cNvPr id="7" name="Bent Arrow 6"/>
              <p:cNvSpPr/>
              <p:nvPr/>
            </p:nvSpPr>
            <p:spPr>
              <a:xfrm>
                <a:off x="3206427" y="2675127"/>
                <a:ext cx="1817539" cy="1300713"/>
              </a:xfrm>
              <a:prstGeom prst="bentArrow">
                <a:avLst>
                  <a:gd name="adj1" fmla="val 10702"/>
                  <a:gd name="adj2" fmla="val 10281"/>
                  <a:gd name="adj3" fmla="val 15111"/>
                  <a:gd name="adj4" fmla="val 65430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 rot="5400000">
                <a:off x="3867923" y="1506084"/>
                <a:ext cx="430505" cy="187843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Recover app from metadata</a:t>
                </a:r>
                <a:endParaRPr lang="en-US" dirty="0">
                  <a:latin typeface="Helvetica Neue Light"/>
                  <a:cs typeface="Helvetica Neue Light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5023966" y="1843157"/>
              <a:ext cx="1481230" cy="2203027"/>
              <a:chOff x="3792466" y="1843156"/>
              <a:chExt cx="1481230" cy="2203027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3792466" y="1843156"/>
                <a:ext cx="1481230" cy="2203027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  <a:latin typeface="Helvetica Neue Light"/>
                    <a:cs typeface="Helvetica Neue Light"/>
                  </a:rPr>
                  <a:t>Restarted</a:t>
                </a:r>
              </a:p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  <a:latin typeface="Helvetica Neue Light"/>
                    <a:cs typeface="Helvetica Neue Light"/>
                  </a:rPr>
                  <a:t>Application</a:t>
                </a:r>
                <a:endParaRPr lang="en-US" b="1" dirty="0">
                  <a:solidFill>
                    <a:schemeClr val="tx1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 rot="5400000">
                <a:off x="4251676" y="2302418"/>
                <a:ext cx="559386" cy="1239234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Streaming</a:t>
                </a:r>
              </a:p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Context</a:t>
                </a:r>
                <a:endParaRPr lang="en-US" dirty="0"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 rot="5400000">
                <a:off x="4254402" y="3035498"/>
                <a:ext cx="559386" cy="1239234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Spark</a:t>
                </a:r>
              </a:p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Context</a:t>
                </a:r>
                <a:endParaRPr lang="en-US" dirty="0">
                  <a:latin typeface="Helvetica Neue Light"/>
                  <a:cs typeface="Helvetica Neue Light"/>
                </a:endParaRPr>
              </a:p>
            </p:txBody>
          </p:sp>
        </p:grp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1549" y="3963452"/>
            <a:ext cx="616100" cy="87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5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Received in-memory data is lost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03512" y="5380695"/>
            <a:ext cx="4679454" cy="932261"/>
          </a:xfrm>
        </p:spPr>
        <p:txBody>
          <a:bodyPr>
            <a:normAutofit/>
          </a:bodyPr>
          <a:lstStyle/>
          <a:p>
            <a:endParaRPr lang="en-US" sz="2400" dirty="0" smtClean="0">
              <a:solidFill>
                <a:schemeClr val="accent2"/>
              </a:solidFill>
            </a:endParaRPr>
          </a:p>
          <a:p>
            <a:endParaRPr lang="en-US" sz="2400" dirty="0"/>
          </a:p>
        </p:txBody>
      </p:sp>
      <p:grpSp>
        <p:nvGrpSpPr>
          <p:cNvPr id="3" name="Group 2"/>
          <p:cNvGrpSpPr/>
          <p:nvPr/>
        </p:nvGrpSpPr>
        <p:grpSpPr>
          <a:xfrm>
            <a:off x="3002860" y="3975840"/>
            <a:ext cx="737375" cy="900185"/>
            <a:chOff x="3980177" y="5101125"/>
            <a:chExt cx="663260" cy="1066798"/>
          </a:xfrm>
        </p:grpSpPr>
        <p:pic>
          <p:nvPicPr>
            <p:cNvPr id="50" name="Picture 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212" y="5634524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0177" y="5382424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Picture 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212" y="5101125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" name="Rounded Rectangle 50"/>
          <p:cNvSpPr/>
          <p:nvPr/>
        </p:nvSpPr>
        <p:spPr>
          <a:xfrm rot="5400000">
            <a:off x="3115950" y="4529398"/>
            <a:ext cx="430505" cy="10172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latin typeface="Helvetica Neue Light"/>
                <a:cs typeface="Helvetica Neue Light"/>
              </a:rPr>
              <a:t>HDFS</a:t>
            </a:r>
            <a:endParaRPr lang="en-US" b="1" dirty="0">
              <a:latin typeface="Helvetica Neue Light"/>
              <a:cs typeface="Helvetica Neue Light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182966" y="3742497"/>
            <a:ext cx="1384767" cy="1510778"/>
            <a:chOff x="5182967" y="3742497"/>
            <a:chExt cx="1245582" cy="1510774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279258" y="3742497"/>
              <a:ext cx="1128236" cy="1128236"/>
            </a:xfrm>
            <a:prstGeom prst="rect">
              <a:avLst/>
            </a:prstGeom>
          </p:spPr>
        </p:pic>
        <p:sp>
          <p:nvSpPr>
            <p:cNvPr id="24" name="Rounded Rectangle 23"/>
            <p:cNvSpPr/>
            <p:nvPr/>
          </p:nvSpPr>
          <p:spPr>
            <a:xfrm rot="5400000">
              <a:off x="5590505" y="4415228"/>
              <a:ext cx="430505" cy="124558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latin typeface="Helvetica Neue"/>
                  <a:cs typeface="Helvetica Neue"/>
                </a:rPr>
                <a:t>Another Driver</a:t>
              </a:r>
              <a:endParaRPr lang="en-US" dirty="0">
                <a:latin typeface="Helvetica Neue"/>
                <a:cs typeface="Helvetica Neue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43961" y="1843157"/>
            <a:ext cx="3736829" cy="2203032"/>
            <a:chOff x="3143961" y="1843157"/>
            <a:chExt cx="3361235" cy="2203027"/>
          </a:xfrm>
        </p:grpSpPr>
        <p:grpSp>
          <p:nvGrpSpPr>
            <p:cNvPr id="9" name="Group 8"/>
            <p:cNvGrpSpPr/>
            <p:nvPr/>
          </p:nvGrpSpPr>
          <p:grpSpPr>
            <a:xfrm>
              <a:off x="3143961" y="2230046"/>
              <a:ext cx="1880005" cy="1745794"/>
              <a:chOff x="3143961" y="2230046"/>
              <a:chExt cx="1880005" cy="1745794"/>
            </a:xfrm>
          </p:grpSpPr>
          <p:sp>
            <p:nvSpPr>
              <p:cNvPr id="7" name="Bent Arrow 6"/>
              <p:cNvSpPr/>
              <p:nvPr/>
            </p:nvSpPr>
            <p:spPr>
              <a:xfrm>
                <a:off x="3206427" y="2675127"/>
                <a:ext cx="1817539" cy="1300713"/>
              </a:xfrm>
              <a:prstGeom prst="bentArrow">
                <a:avLst>
                  <a:gd name="adj1" fmla="val 10702"/>
                  <a:gd name="adj2" fmla="val 10281"/>
                  <a:gd name="adj3" fmla="val 15111"/>
                  <a:gd name="adj4" fmla="val 65430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 rot="5400000">
                <a:off x="3867923" y="1506084"/>
                <a:ext cx="430505" cy="187843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Recover app from metadata</a:t>
                </a:r>
                <a:endParaRPr lang="en-US" dirty="0">
                  <a:latin typeface="Helvetica Neue Light"/>
                  <a:cs typeface="Helvetica Neue Light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5023966" y="1843157"/>
              <a:ext cx="1481230" cy="2203027"/>
              <a:chOff x="3792466" y="1843156"/>
              <a:chExt cx="1481230" cy="2203027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3792466" y="1843156"/>
                <a:ext cx="1481230" cy="2203027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 smtClean="0">
                    <a:solidFill>
                      <a:prstClr val="black"/>
                    </a:solidFill>
                    <a:latin typeface="Helvetica Neue Light"/>
                    <a:cs typeface="Helvetica Neue Light"/>
                  </a:rPr>
                  <a:t>Recovered</a:t>
                </a:r>
              </a:p>
              <a:p>
                <a:pPr algn="ctr"/>
                <a:r>
                  <a:rPr lang="en-US" b="1" dirty="0" smtClean="0">
                    <a:solidFill>
                      <a:prstClr val="black"/>
                    </a:solidFill>
                    <a:latin typeface="Helvetica Neue Light"/>
                    <a:cs typeface="Helvetica Neue Light"/>
                  </a:rPr>
                  <a:t>Application</a:t>
                </a:r>
                <a:endParaRPr lang="en-US" b="1" dirty="0"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 rot="5400000">
                <a:off x="4251676" y="2302418"/>
                <a:ext cx="559386" cy="123923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Streaming</a:t>
                </a:r>
              </a:p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Context</a:t>
                </a:r>
                <a:endParaRPr lang="en-US" dirty="0"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 rot="5400000">
                <a:off x="4254402" y="3035498"/>
                <a:ext cx="559386" cy="123923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Spark</a:t>
                </a:r>
              </a:p>
              <a:p>
                <a:pPr algn="ctr"/>
                <a:r>
                  <a:rPr lang="en-US" dirty="0" smtClean="0">
                    <a:latin typeface="Helvetica Neue Light"/>
                    <a:cs typeface="Helvetica Neue Light"/>
                  </a:rPr>
                  <a:t>Context</a:t>
                </a:r>
                <a:endParaRPr lang="en-US" dirty="0">
                  <a:latin typeface="Helvetica Neue Light"/>
                  <a:cs typeface="Helvetica Neue Light"/>
                </a:endParaRPr>
              </a:p>
            </p:txBody>
          </p:sp>
        </p:grp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97762" y="2816025"/>
            <a:ext cx="1254308" cy="125430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980167" y="1843156"/>
            <a:ext cx="1381515" cy="1199516"/>
          </a:xfrm>
          <a:prstGeom prst="rect">
            <a:avLst/>
          </a:prstGeom>
          <a:ln>
            <a:solidFill>
              <a:srgbClr val="9BBB5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97762" y="4572342"/>
            <a:ext cx="1254308" cy="125430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983341" y="3936422"/>
            <a:ext cx="1381515" cy="1167890"/>
          </a:xfrm>
          <a:prstGeom prst="rect">
            <a:avLst/>
          </a:prstGeom>
          <a:ln>
            <a:solidFill>
              <a:srgbClr val="9BBB5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43" name="Rounded Rectangle 42"/>
          <p:cNvSpPr/>
          <p:nvPr/>
        </p:nvSpPr>
        <p:spPr>
          <a:xfrm rot="5400000">
            <a:off x="7457545" y="5171996"/>
            <a:ext cx="430507" cy="138476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Workers</a:t>
            </a:r>
          </a:p>
        </p:txBody>
      </p:sp>
      <p:sp>
        <p:nvSpPr>
          <p:cNvPr id="46" name="Rounded Rectangle 45"/>
          <p:cNvSpPr/>
          <p:nvPr/>
        </p:nvSpPr>
        <p:spPr>
          <a:xfrm rot="5400000">
            <a:off x="8117077" y="2811687"/>
            <a:ext cx="496212" cy="12762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n-US" sz="1600" dirty="0" smtClean="0">
                <a:solidFill>
                  <a:schemeClr val="accent2"/>
                </a:solidFill>
                <a:latin typeface="Helvetica Neue Light"/>
                <a:cs typeface="Helvetica Neue Light"/>
              </a:rPr>
              <a:t>blocks not recovered</a:t>
            </a:r>
          </a:p>
        </p:txBody>
      </p:sp>
      <p:cxnSp>
        <p:nvCxnSpPr>
          <p:cNvPr id="6" name="Straight Arrow Connector 5"/>
          <p:cNvCxnSpPr>
            <a:stCxn id="46" idx="1"/>
          </p:cNvCxnSpPr>
          <p:nvPr/>
        </p:nvCxnSpPr>
        <p:spPr>
          <a:xfrm flipH="1" flipV="1">
            <a:off x="7628128" y="2816025"/>
            <a:ext cx="737055" cy="385705"/>
          </a:xfrm>
          <a:prstGeom prst="straightConnector1">
            <a:avLst/>
          </a:prstGeom>
          <a:ln w="28575" cmpd="sng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6" idx="3"/>
          </p:cNvCxnSpPr>
          <p:nvPr/>
        </p:nvCxnSpPr>
        <p:spPr>
          <a:xfrm flipH="1">
            <a:off x="7628128" y="3697942"/>
            <a:ext cx="737055" cy="874400"/>
          </a:xfrm>
          <a:prstGeom prst="straightConnector1">
            <a:avLst/>
          </a:prstGeom>
          <a:ln w="28575" cmpd="sng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3511" y="1600200"/>
            <a:ext cx="270291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lvl="0" indent="-346075">
              <a:spcBef>
                <a:spcPct val="20000"/>
              </a:spcBef>
              <a:buClr>
                <a:srgbClr val="A3BAFF">
                  <a:lumMod val="90000"/>
                </a:srgbClr>
              </a:buClr>
              <a:buFont typeface="Lucida Grande"/>
              <a:buChar char="&gt;"/>
            </a:pPr>
            <a:r>
              <a:rPr lang="en-US" sz="2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Executors </a:t>
            </a:r>
            <a:r>
              <a:rPr lang="en-US" sz="2400" dirty="0">
                <a:solidFill>
                  <a:prstClr val="black"/>
                </a:solidFill>
                <a:latin typeface="Helvetica Neue Light"/>
                <a:cs typeface="Helvetica Neue Light"/>
              </a:rPr>
              <a:t>are restarted, </a:t>
            </a:r>
            <a:r>
              <a:rPr lang="en-US" sz="2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receivers are restarted but all </a:t>
            </a:r>
            <a:r>
              <a:rPr lang="en-US" sz="2400" dirty="0">
                <a:solidFill>
                  <a:prstClr val="black"/>
                </a:solidFill>
                <a:latin typeface="Helvetica Neue Light"/>
                <a:cs typeface="Helvetica Neue Light"/>
              </a:rPr>
              <a:t>the </a:t>
            </a:r>
            <a:r>
              <a:rPr lang="en-US" sz="2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in</a:t>
            </a:r>
            <a:r>
              <a:rPr lang="en-US" sz="2400" dirty="0">
                <a:solidFill>
                  <a:prstClr val="black"/>
                </a:solidFill>
                <a:latin typeface="Helvetica Neue Light"/>
                <a:cs typeface="Helvetica Neue Light"/>
              </a:rPr>
              <a:t>-memory data is lost</a:t>
            </a:r>
          </a:p>
        </p:txBody>
      </p:sp>
      <p:sp>
        <p:nvSpPr>
          <p:cNvPr id="31" name="Rounded Rectangle 30"/>
          <p:cNvSpPr/>
          <p:nvPr/>
        </p:nvSpPr>
        <p:spPr>
          <a:xfrm rot="5400000">
            <a:off x="7447685" y="1879848"/>
            <a:ext cx="430508" cy="1130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Receiver</a:t>
            </a:r>
            <a:endParaRPr lang="en-US" dirty="0"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20364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 Checkpointing of Input Data!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03511" y="1600200"/>
            <a:ext cx="8114697" cy="456681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Chances of small data loss on driver failures </a:t>
            </a:r>
            <a:r>
              <a:rPr lang="en-US" b="1" dirty="0" smtClean="0">
                <a:solidFill>
                  <a:schemeClr val="accent2"/>
                </a:solidFill>
              </a:rPr>
              <a:t>[Spark 1.1]</a:t>
            </a:r>
          </a:p>
          <a:p>
            <a:pPr lvl="1"/>
            <a:r>
              <a:rPr lang="en-US" dirty="0" smtClean="0"/>
              <a:t>Data received but not processed is lost</a:t>
            </a:r>
          </a:p>
          <a:p>
            <a:pPr lvl="1"/>
            <a:r>
              <a:rPr lang="en-US" dirty="0" smtClean="0"/>
              <a:t>Past batch data needed for stateful operations (window ops, …) will be lost</a:t>
            </a:r>
          </a:p>
          <a:p>
            <a:pPr lvl="1"/>
            <a:endParaRPr lang="en-US" sz="2000" dirty="0"/>
          </a:p>
          <a:p>
            <a:r>
              <a:rPr lang="en-US" dirty="0" smtClean="0"/>
              <a:t>Top feature request for Spark Streaming in the community</a:t>
            </a:r>
          </a:p>
          <a:p>
            <a:endParaRPr lang="en-US" sz="2400" dirty="0">
              <a:solidFill>
                <a:schemeClr val="accent2"/>
              </a:solidFill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598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do we need to do avoid </a:t>
            </a:r>
            <a:br>
              <a:rPr lang="en-US" dirty="0" smtClean="0"/>
            </a:br>
            <a:r>
              <a:rPr lang="en-US" dirty="0" smtClean="0"/>
              <a:t>any data loss??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356946" cy="2312365"/>
          </a:xfrm>
        </p:spPr>
        <p:txBody>
          <a:bodyPr/>
          <a:lstStyle/>
          <a:p>
            <a:r>
              <a:rPr lang="en-US" dirty="0" smtClean="0"/>
              <a:t>Save (checkpoint) all the received data</a:t>
            </a:r>
          </a:p>
          <a:p>
            <a:pPr lvl="1"/>
            <a:r>
              <a:rPr lang="en-US" dirty="0" smtClean="0"/>
              <a:t>Receive stream and divide into blocks</a:t>
            </a:r>
          </a:p>
          <a:p>
            <a:pPr lvl="1"/>
            <a:r>
              <a:rPr lang="en-US" dirty="0" smtClean="0"/>
              <a:t>Save data and metadata of the blocks to reliable storage</a:t>
            </a:r>
          </a:p>
          <a:p>
            <a:pPr lvl="1"/>
            <a:r>
              <a:rPr lang="en-US" dirty="0" smtClean="0"/>
              <a:t>Acknowledge downstream source correctly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512" y="4303084"/>
            <a:ext cx="8356946" cy="1778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lvl="0" indent="-346075">
              <a:spcBef>
                <a:spcPct val="20000"/>
              </a:spcBef>
              <a:buClr>
                <a:srgbClr val="A3BAFF">
                  <a:lumMod val="90000"/>
                </a:srgbClr>
              </a:buClr>
              <a:buFont typeface="Lucida Grande"/>
              <a:buChar char="&gt;"/>
            </a:pPr>
            <a:r>
              <a:rPr lang="en-US" sz="2800" dirty="0">
                <a:solidFill>
                  <a:prstClr val="black"/>
                </a:solidFill>
                <a:latin typeface="Helvetica Neue Light"/>
                <a:cs typeface="Helvetica Neue Light"/>
              </a:rPr>
              <a:t>Recover </a:t>
            </a:r>
            <a:r>
              <a:rPr lang="en-US" sz="28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all the received data after restarting </a:t>
            </a:r>
            <a:endParaRPr lang="en-US" sz="2800" dirty="0">
              <a:solidFill>
                <a:prstClr val="black"/>
              </a:solidFill>
              <a:latin typeface="Helvetica Neue Light"/>
              <a:cs typeface="Helvetica Neue Light"/>
            </a:endParaRPr>
          </a:p>
          <a:p>
            <a:pPr marL="742950" lvl="1" indent="-285750">
              <a:spcBef>
                <a:spcPct val="20000"/>
              </a:spcBef>
              <a:buClr>
                <a:srgbClr val="A3BAFF">
                  <a:lumMod val="90000"/>
                </a:srgbClr>
              </a:buClr>
              <a:buFont typeface="Lucida Grande"/>
              <a:buChar char="-"/>
            </a:pPr>
            <a:r>
              <a:rPr lang="en-US" sz="2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All the </a:t>
            </a:r>
            <a:r>
              <a:rPr lang="en-US" sz="2400" i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saved</a:t>
            </a:r>
            <a:r>
              <a:rPr lang="en-US" sz="2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 data will be recovered from reliable storage</a:t>
            </a:r>
          </a:p>
          <a:p>
            <a:pPr marL="742950" lvl="1" indent="-285750">
              <a:spcBef>
                <a:spcPct val="20000"/>
              </a:spcBef>
              <a:buClr>
                <a:srgbClr val="A3BAFF">
                  <a:lumMod val="90000"/>
                </a:srgbClr>
              </a:buClr>
              <a:buFont typeface="Lucida Grande"/>
              <a:buChar char="-"/>
            </a:pPr>
            <a:r>
              <a:rPr lang="en-US" sz="2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All the </a:t>
            </a:r>
            <a:r>
              <a:rPr lang="en-US" sz="2400" i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unsaved (therefore unacknowledged) </a:t>
            </a:r>
            <a:r>
              <a:rPr lang="en-US" sz="2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data will have to replayed from the source</a:t>
            </a:r>
            <a:endParaRPr lang="en-US" sz="2400" dirty="0">
              <a:solidFill>
                <a:prstClr val="black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5745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4690830" y="3648301"/>
            <a:ext cx="3442879" cy="2150811"/>
          </a:xfrm>
          <a:prstGeom prst="rect">
            <a:avLst/>
          </a:prstGeom>
          <a:noFill/>
          <a:ln>
            <a:prstDash val="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/>
            <a:r>
              <a:rPr lang="en-US" sz="20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How to write reliable receivers that ensure zero data loss</a:t>
            </a:r>
            <a:endParaRPr lang="en-US" sz="2000" dirty="0">
              <a:solidFill>
                <a:prstClr val="black"/>
              </a:solidFill>
              <a:latin typeface="Helvetica Neue Light"/>
              <a:cs typeface="Helvetica Neue Ligh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15816" y="3648301"/>
            <a:ext cx="3318083" cy="2150812"/>
          </a:xfrm>
          <a:prstGeom prst="rect">
            <a:avLst/>
          </a:prstGeom>
          <a:noFill/>
          <a:ln>
            <a:prstDash val="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000" dirty="0" smtClean="0">
                <a:latin typeface="Helvetica Neue Light"/>
                <a:cs typeface="Helvetica Neue Light"/>
              </a:rPr>
              <a:t>How to save and recover data inside Spark Streaming</a:t>
            </a:r>
            <a:endParaRPr lang="en-US" sz="2000" dirty="0">
              <a:latin typeface="Helvetica Neue Light"/>
              <a:cs typeface="Helvetica Neue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do we need to do avoid </a:t>
            </a:r>
            <a:br>
              <a:rPr lang="en-US" dirty="0" smtClean="0"/>
            </a:br>
            <a:r>
              <a:rPr lang="en-US" dirty="0" smtClean="0"/>
              <a:t>any data loss??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1" y="1600200"/>
            <a:ext cx="8496423" cy="2312365"/>
          </a:xfrm>
        </p:spPr>
        <p:txBody>
          <a:bodyPr/>
          <a:lstStyle/>
          <a:p>
            <a:r>
              <a:rPr lang="en-US" dirty="0"/>
              <a:t>Save (checkpoint) all the received data</a:t>
            </a:r>
          </a:p>
          <a:p>
            <a:pPr lvl="1"/>
            <a:r>
              <a:rPr lang="en-US" dirty="0"/>
              <a:t>Receive stream and divide into blocks</a:t>
            </a:r>
          </a:p>
          <a:p>
            <a:pPr lvl="1"/>
            <a:r>
              <a:rPr lang="en-US" dirty="0"/>
              <a:t>Save data and metadata of the blocks to reliable storage</a:t>
            </a:r>
          </a:p>
          <a:p>
            <a:pPr lvl="1"/>
            <a:r>
              <a:rPr lang="en-US" dirty="0"/>
              <a:t>Acknowledge downstream source correctly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97542" y="4414506"/>
            <a:ext cx="2407813" cy="1018597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Spark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Streaming</a:t>
            </a:r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7823" y="4572494"/>
            <a:ext cx="1484621" cy="647701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Receivers</a:t>
            </a:r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813986" y="4420094"/>
            <a:ext cx="1974699" cy="101301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Sources with support for </a:t>
            </a:r>
            <a:r>
              <a:rPr lang="en-US" dirty="0" err="1" smtClean="0">
                <a:latin typeface="Helvetica Neue Light"/>
                <a:cs typeface="Helvetica Neue Light"/>
              </a:rPr>
              <a:t>acks</a:t>
            </a:r>
            <a:r>
              <a:rPr lang="en-US" dirty="0">
                <a:latin typeface="Helvetica Neue Light"/>
                <a:cs typeface="Helvetica Neue Light"/>
              </a:rPr>
              <a:t> </a:t>
            </a:r>
            <a:r>
              <a:rPr lang="en-US" dirty="0" smtClean="0">
                <a:latin typeface="Helvetica Neue Light"/>
                <a:cs typeface="Helvetica Neue Light"/>
              </a:rPr>
              <a:t>or transactions</a:t>
            </a:r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11" name="Left-Right Arrow 10"/>
          <p:cNvSpPr/>
          <p:nvPr/>
        </p:nvSpPr>
        <p:spPr>
          <a:xfrm>
            <a:off x="4925741" y="4727377"/>
            <a:ext cx="902929" cy="328545"/>
          </a:xfrm>
          <a:prstGeom prst="leftRightArrow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8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4925741" y="4420094"/>
            <a:ext cx="2862944" cy="1013010"/>
            <a:chOff x="4925741" y="4420094"/>
            <a:chExt cx="2862944" cy="1013010"/>
          </a:xfrm>
        </p:grpSpPr>
        <p:sp>
          <p:nvSpPr>
            <p:cNvPr id="12" name="Rounded Rectangle 11"/>
            <p:cNvSpPr/>
            <p:nvPr/>
          </p:nvSpPr>
          <p:spPr>
            <a:xfrm>
              <a:off x="5813986" y="4420094"/>
              <a:ext cx="1974699" cy="1013010"/>
            </a:xfrm>
            <a:prstGeom prst="round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Helvetica Neue Light"/>
                  <a:cs typeface="Helvetica Neue Light"/>
                </a:rPr>
                <a:t>Sources with support for </a:t>
              </a:r>
              <a:r>
                <a:rPr lang="en-US" dirty="0" err="1" smtClean="0">
                  <a:latin typeface="Helvetica Neue Light"/>
                  <a:cs typeface="Helvetica Neue Light"/>
                </a:rPr>
                <a:t>acks</a:t>
              </a:r>
              <a:r>
                <a:rPr lang="en-US" dirty="0">
                  <a:latin typeface="Helvetica Neue Light"/>
                  <a:cs typeface="Helvetica Neue Light"/>
                </a:rPr>
                <a:t> </a:t>
              </a:r>
              <a:r>
                <a:rPr lang="en-US" dirty="0" smtClean="0">
                  <a:latin typeface="Helvetica Neue Light"/>
                  <a:cs typeface="Helvetica Neue Light"/>
                </a:rPr>
                <a:t>or transactions</a:t>
              </a:r>
              <a:endParaRPr lang="en-US" dirty="0">
                <a:latin typeface="Helvetica Neue Light"/>
                <a:cs typeface="Helvetica Neue Light"/>
              </a:endParaRPr>
            </a:p>
          </p:txBody>
        </p:sp>
        <p:sp>
          <p:nvSpPr>
            <p:cNvPr id="13" name="Left-Right Arrow 12"/>
            <p:cNvSpPr/>
            <p:nvPr/>
          </p:nvSpPr>
          <p:spPr>
            <a:xfrm>
              <a:off x="4925741" y="4727377"/>
              <a:ext cx="902929" cy="328545"/>
            </a:xfrm>
            <a:prstGeom prst="leftRightArrow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82380" y="1481465"/>
            <a:ext cx="6782490" cy="870725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save and recover data inside Spark </a:t>
            </a:r>
            <a:r>
              <a:rPr lang="en-US" dirty="0" smtClean="0"/>
              <a:t>Streaming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115816" y="4037355"/>
            <a:ext cx="3318083" cy="1761757"/>
          </a:xfrm>
          <a:prstGeom prst="rect">
            <a:avLst/>
          </a:prstGeom>
          <a:noFill/>
          <a:ln>
            <a:prstDash val="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2000" dirty="0">
              <a:latin typeface="Helvetica Neue Light"/>
              <a:cs typeface="Helvetica Neue Ligh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97542" y="4414506"/>
            <a:ext cx="2407813" cy="1018597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Spark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Streaming</a:t>
            </a:r>
            <a:endParaRPr lang="en-US" dirty="0">
              <a:latin typeface="Helvetica Neue Light"/>
              <a:cs typeface="Helvetica Neue Ligh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7823" y="4572494"/>
            <a:ext cx="1484621" cy="647701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Receivers</a:t>
            </a:r>
            <a:endParaRPr lang="en-US" dirty="0"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58877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Ahead Log (WAL)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Write Ahead Log: Write any intent of an update to a reliable log file before applying the update</a:t>
            </a:r>
          </a:p>
          <a:p>
            <a:pPr lvl="1"/>
            <a:r>
              <a:rPr lang="en-US" dirty="0" smtClean="0"/>
              <a:t>As long as the intent is stored reliably, the updated can be recovered upon failure</a:t>
            </a:r>
          </a:p>
          <a:p>
            <a:endParaRPr lang="en-US" dirty="0"/>
          </a:p>
          <a:p>
            <a:r>
              <a:rPr lang="en-US" dirty="0" smtClean="0"/>
              <a:t>Very common in file systems, databases, etc.</a:t>
            </a:r>
          </a:p>
          <a:p>
            <a:endParaRPr lang="en-US" dirty="0" smtClean="0"/>
          </a:p>
          <a:p>
            <a:r>
              <a:rPr lang="en-US" dirty="0" smtClean="0"/>
              <a:t>We will use WALs for both data and metadata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Checkpointing using WALs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2816025"/>
            <a:ext cx="1236696" cy="123669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53663" y="1843156"/>
            <a:ext cx="1362117" cy="119951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4572342"/>
            <a:ext cx="1236696" cy="1236696"/>
          </a:xfrm>
          <a:prstGeom prst="rect">
            <a:avLst/>
          </a:prstGeom>
        </p:spPr>
      </p:pic>
      <p:sp>
        <p:nvSpPr>
          <p:cNvPr id="15" name="Left Arrow 14"/>
          <p:cNvSpPr/>
          <p:nvPr/>
        </p:nvSpPr>
        <p:spPr>
          <a:xfrm>
            <a:off x="7408842" y="2291075"/>
            <a:ext cx="1373214" cy="263578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1" name="Rounded Rectangle 20"/>
          <p:cNvSpPr/>
          <p:nvPr/>
        </p:nvSpPr>
        <p:spPr>
          <a:xfrm rot="5400000">
            <a:off x="6710344" y="1869089"/>
            <a:ext cx="430508" cy="11150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1257" y="2783950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51009" y="2783950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42048" y="2775392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56837" y="3936422"/>
            <a:ext cx="1362117" cy="116789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585" y="4821861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750337" y="4821861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41376" y="4813303"/>
            <a:ext cx="283581" cy="1609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43" name="Rounded Rectangle 42"/>
          <p:cNvSpPr/>
          <p:nvPr/>
        </p:nvSpPr>
        <p:spPr>
          <a:xfrm rot="5400000">
            <a:off x="7957230" y="1382802"/>
            <a:ext cx="430508" cy="15159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Input stream</a:t>
            </a:r>
          </a:p>
        </p:txBody>
      </p:sp>
      <p:sp>
        <p:nvSpPr>
          <p:cNvPr id="47" name="Rounded Rectangle 46"/>
          <p:cNvSpPr/>
          <p:nvPr/>
        </p:nvSpPr>
        <p:spPr>
          <a:xfrm rot="5400000">
            <a:off x="6721014" y="5166793"/>
            <a:ext cx="430507" cy="13583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"/>
                <a:cs typeface="Helvetica Neue"/>
              </a:rPr>
              <a:t>Workers</a:t>
            </a:r>
          </a:p>
        </p:txBody>
      </p:sp>
      <p:sp>
        <p:nvSpPr>
          <p:cNvPr id="53" name="Left Arrow 52"/>
          <p:cNvSpPr/>
          <p:nvPr/>
        </p:nvSpPr>
        <p:spPr>
          <a:xfrm rot="16200000">
            <a:off x="6766453" y="3623634"/>
            <a:ext cx="239352" cy="28891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809942" y="3061139"/>
            <a:ext cx="137492" cy="219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809942" y="3354658"/>
            <a:ext cx="137492" cy="219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6" name="Rounded Rectangle 55"/>
          <p:cNvSpPr/>
          <p:nvPr/>
        </p:nvSpPr>
        <p:spPr>
          <a:xfrm rot="5400000">
            <a:off x="7548482" y="2665531"/>
            <a:ext cx="496213" cy="15737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Replicate blocks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238624" y="3742496"/>
            <a:ext cx="1236696" cy="1492372"/>
            <a:chOff x="4238624" y="3742496"/>
            <a:chExt cx="1128236" cy="1492369"/>
          </a:xfrm>
        </p:grpSpPr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238624" y="3742496"/>
              <a:ext cx="1128236" cy="1128236"/>
            </a:xfrm>
            <a:prstGeom prst="rect">
              <a:avLst/>
            </a:prstGeom>
          </p:spPr>
        </p:pic>
        <p:sp>
          <p:nvSpPr>
            <p:cNvPr id="62" name="Rounded Rectangle 61"/>
            <p:cNvSpPr/>
            <p:nvPr/>
          </p:nvSpPr>
          <p:spPr>
            <a:xfrm rot="5400000">
              <a:off x="4549871" y="4510994"/>
              <a:ext cx="430505" cy="101723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"/>
                  <a:cs typeface="Helvetica Neue"/>
                </a:rPr>
                <a:t>Driver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3983331" y="1843156"/>
            <a:ext cx="1623625" cy="2203032"/>
            <a:chOff x="3983332" y="1843156"/>
            <a:chExt cx="1481230" cy="2203027"/>
          </a:xfrm>
        </p:grpSpPr>
        <p:sp>
          <p:nvSpPr>
            <p:cNvPr id="64" name="Rectangle 63"/>
            <p:cNvSpPr/>
            <p:nvPr/>
          </p:nvSpPr>
          <p:spPr>
            <a:xfrm>
              <a:off x="3983332" y="1843156"/>
              <a:ext cx="1481230" cy="220302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Application</a:t>
              </a:r>
              <a:endPara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65" name="Rounded Rectangle 64"/>
            <p:cNvSpPr/>
            <p:nvPr/>
          </p:nvSpPr>
          <p:spPr>
            <a:xfrm rot="5400000">
              <a:off x="4442542" y="1912318"/>
              <a:ext cx="559386" cy="12392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Streaming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Context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 rot="5400000">
              <a:off x="4445268" y="3035498"/>
              <a:ext cx="559386" cy="12392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Spark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Context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844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Checkpointing using WALs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3" y="1600200"/>
            <a:ext cx="2440186" cy="425135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Write block data to WAL in HDFS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7" y="2816024"/>
            <a:ext cx="1234989" cy="123498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53663" y="1843156"/>
            <a:ext cx="1272234" cy="131301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7408842" y="2291075"/>
            <a:ext cx="1282599" cy="288516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1" name="Rounded Rectangle 20"/>
          <p:cNvSpPr/>
          <p:nvPr/>
        </p:nvSpPr>
        <p:spPr>
          <a:xfrm rot="5400000">
            <a:off x="6653188" y="1926245"/>
            <a:ext cx="471241" cy="10414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1258" y="2783950"/>
            <a:ext cx="264868" cy="1761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51010" y="2783950"/>
            <a:ext cx="264868" cy="1761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42049" y="2775392"/>
            <a:ext cx="264868" cy="1761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43" name="Rounded Rectangle 42"/>
          <p:cNvSpPr/>
          <p:nvPr/>
        </p:nvSpPr>
        <p:spPr>
          <a:xfrm rot="5400000">
            <a:off x="7886845" y="1453187"/>
            <a:ext cx="471241" cy="141594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Input stream</a:t>
            </a:r>
          </a:p>
        </p:txBody>
      </p:sp>
      <p:sp>
        <p:nvSpPr>
          <p:cNvPr id="53" name="Left Arrow 52"/>
          <p:cNvSpPr/>
          <p:nvPr/>
        </p:nvSpPr>
        <p:spPr>
          <a:xfrm rot="16200000">
            <a:off x="6745598" y="3644489"/>
            <a:ext cx="261998" cy="269851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809942" y="3061139"/>
            <a:ext cx="128420" cy="2402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809942" y="3354658"/>
            <a:ext cx="128420" cy="2402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367392" y="4024581"/>
            <a:ext cx="1041450" cy="1502761"/>
            <a:chOff x="2822584" y="3975840"/>
            <a:chExt cx="1017238" cy="1372862"/>
          </a:xfrm>
        </p:grpSpPr>
        <p:pic>
          <p:nvPicPr>
            <p:cNvPr id="33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8896" y="4425932"/>
              <a:ext cx="657225" cy="450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2861" y="4213205"/>
              <a:ext cx="657225" cy="450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8896" y="3975840"/>
              <a:ext cx="657225" cy="450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Rounded Rectangle 36"/>
            <p:cNvSpPr/>
            <p:nvPr/>
          </p:nvSpPr>
          <p:spPr>
            <a:xfrm rot="5400000">
              <a:off x="3115950" y="4624831"/>
              <a:ext cx="430505" cy="101723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 smtClean="0">
                  <a:latin typeface="Helvetica Neue Light"/>
                  <a:cs typeface="Helvetica Neue Light"/>
                </a:rPr>
                <a:t>WAL in HDFS</a:t>
              </a:r>
              <a:endParaRPr lang="en-US" b="1" dirty="0">
                <a:latin typeface="Helvetica Neue Light"/>
                <a:cs typeface="Helvetica Neue Light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238624" y="3742496"/>
            <a:ext cx="1155090" cy="1633576"/>
            <a:chOff x="4238624" y="3742496"/>
            <a:chExt cx="1128236" cy="1492369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238624" y="3742496"/>
              <a:ext cx="1128236" cy="1128236"/>
            </a:xfrm>
            <a:prstGeom prst="rect">
              <a:avLst/>
            </a:prstGeom>
          </p:spPr>
        </p:pic>
        <p:sp>
          <p:nvSpPr>
            <p:cNvPr id="40" name="Rounded Rectangle 39"/>
            <p:cNvSpPr/>
            <p:nvPr/>
          </p:nvSpPr>
          <p:spPr>
            <a:xfrm rot="5400000">
              <a:off x="4549871" y="4510994"/>
              <a:ext cx="430505" cy="101723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"/>
                  <a:cs typeface="Helvetica Neue"/>
                </a:rPr>
                <a:t>Driver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983332" y="1843156"/>
            <a:ext cx="1516486" cy="2411475"/>
            <a:chOff x="3983332" y="1843156"/>
            <a:chExt cx="1481230" cy="2203027"/>
          </a:xfrm>
        </p:grpSpPr>
        <p:sp>
          <p:nvSpPr>
            <p:cNvPr id="42" name="Rectangle 41"/>
            <p:cNvSpPr/>
            <p:nvPr/>
          </p:nvSpPr>
          <p:spPr>
            <a:xfrm>
              <a:off x="3983332" y="1843156"/>
              <a:ext cx="1481230" cy="220302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Application</a:t>
              </a:r>
              <a:endPara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 rot="5400000">
              <a:off x="4442542" y="1912318"/>
              <a:ext cx="559386" cy="12392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Streaming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Context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 rot="5400000">
              <a:off x="4445268" y="3035498"/>
              <a:ext cx="559386" cy="12392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Spark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Context</a:t>
              </a:r>
            </a:p>
          </p:txBody>
        </p:sp>
      </p:grpSp>
      <p:sp>
        <p:nvSpPr>
          <p:cNvPr id="49" name="Rounded Rectangle 48"/>
          <p:cNvSpPr/>
          <p:nvPr/>
        </p:nvSpPr>
        <p:spPr>
          <a:xfrm rot="5400000">
            <a:off x="7275930" y="2938082"/>
            <a:ext cx="543165" cy="107558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Write block data</a:t>
            </a:r>
          </a:p>
        </p:txBody>
      </p:sp>
    </p:spTree>
    <p:extLst>
      <p:ext uri="{BB962C8B-B14F-4D97-AF65-F5344CB8AC3E}">
        <p14:creationId xmlns:p14="http://schemas.microsoft.com/office/powerpoint/2010/main" val="362132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238624" y="3742496"/>
            <a:ext cx="1255634" cy="1618741"/>
            <a:chOff x="4238624" y="3742496"/>
            <a:chExt cx="1128236" cy="149236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238624" y="3742496"/>
              <a:ext cx="1128236" cy="1128236"/>
            </a:xfrm>
            <a:prstGeom prst="rect">
              <a:avLst/>
            </a:prstGeom>
          </p:spPr>
        </p:pic>
        <p:sp>
          <p:nvSpPr>
            <p:cNvPr id="46" name="Rounded Rectangle 45"/>
            <p:cNvSpPr/>
            <p:nvPr/>
          </p:nvSpPr>
          <p:spPr>
            <a:xfrm rot="5400000">
              <a:off x="4549871" y="4510994"/>
              <a:ext cx="430505" cy="101723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"/>
                  <a:cs typeface="Helvetica Neue"/>
                </a:rPr>
                <a:t>Driver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12" y="354018"/>
            <a:ext cx="8540468" cy="870725"/>
          </a:xfrm>
        </p:spPr>
        <p:txBody>
          <a:bodyPr>
            <a:normAutofit/>
          </a:bodyPr>
          <a:lstStyle/>
          <a:p>
            <a:r>
              <a:rPr lang="en-US" dirty="0" smtClean="0"/>
              <a:t>Metadata </a:t>
            </a:r>
            <a:r>
              <a:rPr lang="en-US" dirty="0"/>
              <a:t>Checkpointing using WALs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3" y="1600200"/>
            <a:ext cx="2286026" cy="463935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Write block data to WAL in a reliable store</a:t>
            </a:r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Write block metadata to another WAL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71258" y="2816025"/>
            <a:ext cx="1255634" cy="125563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53663" y="1843156"/>
            <a:ext cx="1382975" cy="1301086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7408842" y="2291075"/>
            <a:ext cx="1394242" cy="285896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1" name="Rounded Rectangle 20"/>
          <p:cNvSpPr/>
          <p:nvPr/>
        </p:nvSpPr>
        <p:spPr>
          <a:xfrm rot="5400000">
            <a:off x="6700654" y="1878779"/>
            <a:ext cx="466962" cy="11321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1257" y="2783950"/>
            <a:ext cx="287923" cy="1745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51009" y="2783950"/>
            <a:ext cx="287923" cy="1745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42048" y="2775392"/>
            <a:ext cx="287923" cy="1745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983331" y="1843156"/>
            <a:ext cx="1648487" cy="2389576"/>
            <a:chOff x="3983332" y="1843156"/>
            <a:chExt cx="1481230" cy="2203027"/>
          </a:xfrm>
        </p:grpSpPr>
        <p:sp>
          <p:nvSpPr>
            <p:cNvPr id="27" name="Rectangle 26"/>
            <p:cNvSpPr/>
            <p:nvPr/>
          </p:nvSpPr>
          <p:spPr>
            <a:xfrm>
              <a:off x="3983332" y="1843156"/>
              <a:ext cx="1481230" cy="220302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Application</a:t>
              </a:r>
              <a:endPara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 rot="5400000">
              <a:off x="4442542" y="1912318"/>
              <a:ext cx="559386" cy="12392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Streaming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Context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 rot="5400000">
              <a:off x="4445268" y="3035498"/>
              <a:ext cx="559386" cy="12392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Spark</a:t>
              </a:r>
            </a:p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Context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 rot="5400000">
            <a:off x="7950610" y="1389422"/>
            <a:ext cx="466962" cy="153919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Input stream</a:t>
            </a:r>
          </a:p>
        </p:txBody>
      </p:sp>
      <p:sp>
        <p:nvSpPr>
          <p:cNvPr id="53" name="Left Arrow 52"/>
          <p:cNvSpPr/>
          <p:nvPr/>
        </p:nvSpPr>
        <p:spPr>
          <a:xfrm rot="16200000">
            <a:off x="6758531" y="3631556"/>
            <a:ext cx="259619" cy="293339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809942" y="3061139"/>
            <a:ext cx="139598" cy="2381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809942" y="3354658"/>
            <a:ext cx="139598" cy="2381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mtClean="0">
              <a:solidFill>
                <a:prstClr val="white"/>
              </a:solidFill>
              <a:latin typeface="Helvetica Neue Light"/>
              <a:cs typeface="Helvetica Neue Light"/>
            </a:endParaRPr>
          </a:p>
        </p:txBody>
      </p:sp>
      <p:sp>
        <p:nvSpPr>
          <p:cNvPr id="56" name="Rounded Rectangle 55"/>
          <p:cNvSpPr/>
          <p:nvPr/>
        </p:nvSpPr>
        <p:spPr>
          <a:xfrm rot="5400000">
            <a:off x="7325207" y="2888805"/>
            <a:ext cx="538233" cy="11692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n-US" sz="16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Write block data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67392" y="4024582"/>
            <a:ext cx="1132102" cy="1489114"/>
            <a:chOff x="2822584" y="3975840"/>
            <a:chExt cx="1017238" cy="1372862"/>
          </a:xfrm>
        </p:grpSpPr>
        <p:pic>
          <p:nvPicPr>
            <p:cNvPr id="33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8896" y="4425932"/>
              <a:ext cx="657225" cy="450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2861" y="4213205"/>
              <a:ext cx="657225" cy="450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8896" y="3975840"/>
              <a:ext cx="657225" cy="450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Rounded Rectangle 36"/>
            <p:cNvSpPr/>
            <p:nvPr/>
          </p:nvSpPr>
          <p:spPr>
            <a:xfrm rot="5400000">
              <a:off x="3115950" y="4624831"/>
              <a:ext cx="430505" cy="101723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 smtClean="0">
                  <a:latin typeface="Helvetica Neue Light"/>
                  <a:cs typeface="Helvetica Neue Light"/>
                </a:rPr>
                <a:t>WAL in HDFS</a:t>
              </a:r>
              <a:endParaRPr lang="en-US" b="1" dirty="0">
                <a:latin typeface="Helvetica Neue Light"/>
                <a:cs typeface="Helvetica Neue Light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199762" y="4024582"/>
            <a:ext cx="738154" cy="976409"/>
            <a:chOff x="3980177" y="5101125"/>
            <a:chExt cx="663260" cy="1066798"/>
          </a:xfrm>
        </p:grpSpPr>
        <p:pic>
          <p:nvPicPr>
            <p:cNvPr id="39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212" y="5634524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0177" y="5382424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100000" l="1786" r="100000">
                          <a14:backgroundMark x1="60332" y1="29255" x2="60332" y2="29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6212" y="5101125"/>
              <a:ext cx="657225" cy="533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" name="Bent Arrow 29"/>
          <p:cNvSpPr/>
          <p:nvPr/>
        </p:nvSpPr>
        <p:spPr>
          <a:xfrm rot="5400000" flipV="1">
            <a:off x="3019780" y="2851351"/>
            <a:ext cx="1577929" cy="822903"/>
          </a:xfrm>
          <a:prstGeom prst="bentArrow">
            <a:avLst>
              <a:gd name="adj1" fmla="val 17083"/>
              <a:gd name="adj2" fmla="val 17619"/>
              <a:gd name="adj3" fmla="val 18302"/>
              <a:gd name="adj4" fmla="val 6543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Helvetica Neue Light"/>
              <a:cs typeface="Helvetica Neue Light"/>
            </a:endParaRPr>
          </a:p>
        </p:txBody>
      </p:sp>
      <p:sp>
        <p:nvSpPr>
          <p:cNvPr id="31" name="Rounded Rectangle 30"/>
          <p:cNvSpPr/>
          <p:nvPr/>
        </p:nvSpPr>
        <p:spPr>
          <a:xfrm rot="5400000">
            <a:off x="3352055" y="4614414"/>
            <a:ext cx="466962" cy="11321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latin typeface="Helvetica Neue Light"/>
                <a:cs typeface="Helvetica Neue Light"/>
              </a:rPr>
              <a:t>WAL in HDFS</a:t>
            </a:r>
            <a:endParaRPr lang="en-US" b="1" dirty="0">
              <a:latin typeface="Helvetica Neue Light"/>
              <a:cs typeface="Helvetica Neue Light"/>
            </a:endParaRPr>
          </a:p>
        </p:txBody>
      </p:sp>
      <p:sp>
        <p:nvSpPr>
          <p:cNvPr id="38" name="Rounded Rectangle 37"/>
          <p:cNvSpPr/>
          <p:nvPr/>
        </p:nvSpPr>
        <p:spPr>
          <a:xfrm rot="5400000">
            <a:off x="2490491" y="1981668"/>
            <a:ext cx="1788405" cy="14839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n-US" dirty="0" smtClean="0">
                <a:latin typeface="Helvetica Neue Light"/>
                <a:cs typeface="Helvetica Neue Light"/>
              </a:rPr>
              <a:t>Write block id + WAL segment info</a:t>
            </a:r>
            <a:endParaRPr lang="en-US" dirty="0">
              <a:latin typeface="Helvetica Neue Light"/>
              <a:cs typeface="Helvetica Neue Light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5341852" y="1925537"/>
            <a:ext cx="1150279" cy="745123"/>
            <a:chOff x="5158326" y="1925537"/>
            <a:chExt cx="1217097" cy="686953"/>
          </a:xfrm>
        </p:grpSpPr>
        <p:grpSp>
          <p:nvGrpSpPr>
            <p:cNvPr id="44" name="Group 43"/>
            <p:cNvGrpSpPr/>
            <p:nvPr/>
          </p:nvGrpSpPr>
          <p:grpSpPr>
            <a:xfrm rot="5400000">
              <a:off x="5635086" y="1872153"/>
              <a:ext cx="263577" cy="1217097"/>
              <a:chOff x="6894071" y="3213539"/>
              <a:chExt cx="263577" cy="826629"/>
            </a:xfrm>
          </p:grpSpPr>
          <p:sp>
            <p:nvSpPr>
              <p:cNvPr id="47" name="Left Arrow 46"/>
              <p:cNvSpPr/>
              <p:nvPr/>
            </p:nvSpPr>
            <p:spPr>
              <a:xfrm rot="16200000">
                <a:off x="6906184" y="3788704"/>
                <a:ext cx="239351" cy="263577"/>
              </a:xfrm>
              <a:prstGeom prst="leftArrow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6962342" y="3213539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6962342" y="3507058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45" name="Rounded Rectangle 44"/>
            <p:cNvSpPr/>
            <p:nvPr/>
          </p:nvSpPr>
          <p:spPr>
            <a:xfrm rot="5400000">
              <a:off x="5539162" y="1638120"/>
              <a:ext cx="430505" cy="100534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Report blocks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921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Saving everything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1" y="1600200"/>
            <a:ext cx="8547809" cy="4251355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Data WAL </a:t>
            </a:r>
            <a:r>
              <a:rPr lang="en-US" dirty="0" smtClean="0"/>
              <a:t>for saving block data</a:t>
            </a:r>
          </a:p>
          <a:p>
            <a:pPr lvl="1"/>
            <a:endParaRPr lang="en-US" dirty="0" smtClean="0"/>
          </a:p>
          <a:p>
            <a:r>
              <a:rPr lang="en-US" dirty="0" smtClean="0">
                <a:solidFill>
                  <a:schemeClr val="accent3"/>
                </a:solidFill>
              </a:rPr>
              <a:t>Metadata WAL </a:t>
            </a:r>
            <a:r>
              <a:rPr lang="en-US" dirty="0" smtClean="0"/>
              <a:t>for saving block metadata</a:t>
            </a:r>
          </a:p>
          <a:p>
            <a:pPr lvl="1"/>
            <a:r>
              <a:rPr lang="en-US" dirty="0" smtClean="0"/>
              <a:t>Block ID and Data WAL segment info</a:t>
            </a:r>
          </a:p>
          <a:p>
            <a:pPr lvl="1"/>
            <a:r>
              <a:rPr lang="en-US" dirty="0" smtClean="0"/>
              <a:t>Batch to which each block is allocated to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8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12" y="354018"/>
            <a:ext cx="8503764" cy="8707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Recovering everything after driver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Retrieve block metadata and block-to-batch mapping from the </a:t>
            </a:r>
            <a:r>
              <a:rPr lang="en-US" dirty="0" smtClean="0">
                <a:solidFill>
                  <a:schemeClr val="accent3"/>
                </a:solidFill>
              </a:rPr>
              <a:t>Metadata WAL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r>
              <a:rPr lang="en-US" dirty="0" smtClean="0"/>
              <a:t>Recreate all the RDDs from the blocks and </a:t>
            </a:r>
            <a:r>
              <a:rPr lang="en-US" dirty="0" err="1" smtClean="0"/>
              <a:t>relaunch</a:t>
            </a:r>
            <a:r>
              <a:rPr lang="en-US" dirty="0" smtClean="0"/>
              <a:t> unfinished jobs</a:t>
            </a:r>
          </a:p>
          <a:p>
            <a:endParaRPr lang="en-US" dirty="0"/>
          </a:p>
          <a:p>
            <a:r>
              <a:rPr lang="en-US" dirty="0" smtClean="0"/>
              <a:t>Jobs read data directly from the </a:t>
            </a:r>
            <a:r>
              <a:rPr lang="en-US" dirty="0" smtClean="0">
                <a:solidFill>
                  <a:schemeClr val="accent6"/>
                </a:solidFill>
              </a:rPr>
              <a:t>Data WAL</a:t>
            </a:r>
          </a:p>
          <a:p>
            <a:endParaRPr lang="en-US" dirty="0"/>
          </a:p>
          <a:p>
            <a:r>
              <a:rPr lang="en-US" dirty="0" smtClean="0"/>
              <a:t>All Spark Streaming state recovered (almost)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4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12" y="354018"/>
            <a:ext cx="8555150" cy="870725"/>
          </a:xfrm>
        </p:spPr>
        <p:txBody>
          <a:bodyPr>
            <a:noAutofit/>
          </a:bodyPr>
          <a:lstStyle/>
          <a:p>
            <a:r>
              <a:rPr lang="en-US" sz="3400" dirty="0" smtClean="0"/>
              <a:t>What about data received but not saved?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437696" cy="4251355"/>
          </a:xfrm>
        </p:spPr>
        <p:txBody>
          <a:bodyPr>
            <a:normAutofit/>
          </a:bodyPr>
          <a:lstStyle/>
          <a:p>
            <a:r>
              <a:rPr lang="en-US" dirty="0" smtClean="0"/>
              <a:t>Data has to be replayed from source</a:t>
            </a:r>
          </a:p>
          <a:p>
            <a:endParaRPr lang="en-US" dirty="0"/>
          </a:p>
          <a:p>
            <a:r>
              <a:rPr lang="en-US" dirty="0" err="1" smtClean="0"/>
              <a:t>Replayable</a:t>
            </a:r>
            <a:r>
              <a:rPr lang="en-US" dirty="0" smtClean="0"/>
              <a:t> sources usually have some acknowledgement mechanism for reliable sending</a:t>
            </a:r>
          </a:p>
          <a:p>
            <a:pPr lvl="1"/>
            <a:endParaRPr lang="en-US" dirty="0"/>
          </a:p>
          <a:p>
            <a:r>
              <a:rPr lang="en-US" dirty="0" smtClean="0"/>
              <a:t>Needs a </a:t>
            </a:r>
            <a:r>
              <a:rPr lang="en-US" dirty="0" smtClean="0">
                <a:solidFill>
                  <a:srgbClr val="9BBB59"/>
                </a:solidFill>
              </a:rPr>
              <a:t>Reliable Receiver</a:t>
            </a:r>
          </a:p>
        </p:txBody>
      </p:sp>
    </p:spTree>
    <p:extLst>
      <p:ext uri="{BB962C8B-B14F-4D97-AF65-F5344CB8AC3E}">
        <p14:creationId xmlns:p14="http://schemas.microsoft.com/office/powerpoint/2010/main" val="66674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497542" y="4414506"/>
            <a:ext cx="2407813" cy="1018597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Spark</a:t>
            </a:r>
          </a:p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Streaming</a:t>
            </a:r>
            <a:endParaRPr lang="en-US" dirty="0">
              <a:latin typeface="Helvetica Neue Light"/>
              <a:cs typeface="Helvetica Neue Ligh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4690830" y="3648301"/>
            <a:ext cx="3442879" cy="2150811"/>
            <a:chOff x="4690830" y="3648301"/>
            <a:chExt cx="3442879" cy="2150811"/>
          </a:xfrm>
        </p:grpSpPr>
        <p:sp>
          <p:nvSpPr>
            <p:cNvPr id="8" name="Rectangle 7"/>
            <p:cNvSpPr/>
            <p:nvPr/>
          </p:nvSpPr>
          <p:spPr>
            <a:xfrm>
              <a:off x="4690830" y="3648301"/>
              <a:ext cx="3442879" cy="2150811"/>
            </a:xfrm>
            <a:prstGeom prst="rect">
              <a:avLst/>
            </a:prstGeom>
            <a:noFill/>
            <a:ln>
              <a:prstDash val="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 algn="ctr"/>
              <a:endParaRPr lang="en-US" sz="2000" dirty="0">
                <a:solidFill>
                  <a:prstClr val="black"/>
                </a:solidFill>
                <a:latin typeface="Helvetica Neue Light"/>
                <a:cs typeface="Helvetica Neue Light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813986" y="4420094"/>
              <a:ext cx="1974699" cy="1013010"/>
            </a:xfrm>
            <a:prstGeom prst="round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Helvetica Neue Light"/>
                  <a:cs typeface="Helvetica Neue Light"/>
                </a:rPr>
                <a:t>Sources with support for </a:t>
              </a:r>
              <a:r>
                <a:rPr lang="en-US" dirty="0" err="1" smtClean="0">
                  <a:latin typeface="Helvetica Neue Light"/>
                  <a:cs typeface="Helvetica Neue Light"/>
                </a:rPr>
                <a:t>acks</a:t>
              </a:r>
              <a:r>
                <a:rPr lang="en-US" dirty="0">
                  <a:latin typeface="Helvetica Neue Light"/>
                  <a:cs typeface="Helvetica Neue Light"/>
                </a:rPr>
                <a:t> </a:t>
              </a:r>
              <a:r>
                <a:rPr lang="en-US" dirty="0" smtClean="0">
                  <a:latin typeface="Helvetica Neue Light"/>
                  <a:cs typeface="Helvetica Neue Light"/>
                </a:rPr>
                <a:t>or transactions</a:t>
              </a:r>
              <a:endParaRPr lang="en-US" dirty="0">
                <a:latin typeface="Helvetica Neue Light"/>
                <a:cs typeface="Helvetica Neue Light"/>
              </a:endParaRPr>
            </a:p>
          </p:txBody>
        </p:sp>
        <p:sp>
          <p:nvSpPr>
            <p:cNvPr id="13" name="Left-Right Arrow 12"/>
            <p:cNvSpPr/>
            <p:nvPr/>
          </p:nvSpPr>
          <p:spPr>
            <a:xfrm>
              <a:off x="4925741" y="4727377"/>
              <a:ext cx="902929" cy="328545"/>
            </a:xfrm>
            <a:prstGeom prst="leftRightArrow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82380" y="1481465"/>
            <a:ext cx="6782490" cy="870725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write reliable receivers that ensure zero data 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7823" y="4572494"/>
            <a:ext cx="1484621" cy="647701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Helvetica Neue Light"/>
                <a:cs typeface="Helvetica Neue Light"/>
              </a:rPr>
              <a:t>Receivers</a:t>
            </a:r>
            <a:endParaRPr lang="en-US" dirty="0"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02804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Receivers	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437696" cy="425135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Receives data from “external systems”</a:t>
            </a:r>
          </a:p>
          <a:p>
            <a:endParaRPr lang="en-US" dirty="0" smtClean="0"/>
          </a:p>
          <a:p>
            <a:r>
              <a:rPr lang="en-US" dirty="0" smtClean="0"/>
              <a:t>Usually speaks a protocol understood by the external system</a:t>
            </a:r>
          </a:p>
          <a:p>
            <a:endParaRPr lang="en-US" dirty="0" smtClean="0"/>
          </a:p>
          <a:p>
            <a:r>
              <a:rPr lang="en-US" dirty="0" smtClean="0"/>
              <a:t>Stores data into the </a:t>
            </a:r>
            <a:r>
              <a:rPr lang="en-US" dirty="0" err="1" smtClean="0"/>
              <a:t>BlockManager</a:t>
            </a:r>
            <a:r>
              <a:rPr lang="en-US" dirty="0" smtClean="0"/>
              <a:t>, and </a:t>
            </a:r>
            <a:r>
              <a:rPr lang="en-US" i="1" dirty="0" smtClean="0"/>
              <a:t>optionally </a:t>
            </a:r>
            <a:r>
              <a:rPr lang="en-US" dirty="0" smtClean="0"/>
              <a:t>to the HDFS WAL</a:t>
            </a:r>
          </a:p>
          <a:p>
            <a:endParaRPr lang="en-US" dirty="0" smtClean="0"/>
          </a:p>
          <a:p>
            <a:r>
              <a:rPr lang="en-US" dirty="0" smtClean="0"/>
              <a:t>Optionally “reliable”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05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What about data received but not saved?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437696" cy="425135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Data has to be replayed from source</a:t>
            </a:r>
          </a:p>
          <a:p>
            <a:endParaRPr lang="en-US" dirty="0"/>
          </a:p>
          <a:p>
            <a:r>
              <a:rPr lang="en-US" dirty="0" smtClean="0"/>
              <a:t>Replay-able sources usually have some acknowledgement mechanism for reliable sending</a:t>
            </a:r>
          </a:p>
          <a:p>
            <a:pPr lvl="1"/>
            <a:r>
              <a:rPr lang="en-US" dirty="0" smtClean="0"/>
              <a:t>Kafka: offset for each topic + partition</a:t>
            </a:r>
          </a:p>
          <a:p>
            <a:pPr lvl="1"/>
            <a:r>
              <a:rPr lang="en-US" dirty="0" smtClean="0"/>
              <a:t>Flume: transactions</a:t>
            </a:r>
          </a:p>
          <a:p>
            <a:endParaRPr lang="en-US" dirty="0"/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chemeClr val="accent6"/>
                </a:solidFill>
              </a:rPr>
              <a:t>reliable receiver </a:t>
            </a:r>
            <a:r>
              <a:rPr lang="en-US" dirty="0" smtClean="0"/>
              <a:t>must be acknowledge the source only after corresponding blocks have been written to both WALs, on block generation</a:t>
            </a:r>
          </a:p>
          <a:p>
            <a:endParaRPr lang="en-US" dirty="0"/>
          </a:p>
          <a:p>
            <a:r>
              <a:rPr lang="en-US" b="1" dirty="0" smtClean="0"/>
              <a:t>WAL + Reliable Receiver = No Data Loss!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86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Receiver API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437696" cy="42513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Extend </a:t>
            </a:r>
            <a:r>
              <a:rPr lang="en-US" sz="2200" dirty="0" err="1" smtClean="0">
                <a:latin typeface="Courier New"/>
              </a:rPr>
              <a:t>org.apache.spark.streaming.receiver.Receiver</a:t>
            </a:r>
            <a:endParaRPr lang="en-US" sz="2200" dirty="0" smtClean="0">
              <a:latin typeface="Courier New"/>
            </a:endParaRPr>
          </a:p>
          <a:p>
            <a:endParaRPr lang="en-US" sz="2200" dirty="0" smtClean="0">
              <a:latin typeface="Courier New"/>
            </a:endParaRPr>
          </a:p>
          <a:p>
            <a:r>
              <a:rPr lang="en-US" dirty="0" smtClean="0"/>
              <a:t>Initialize and establish connections, start threads to receive data in </a:t>
            </a:r>
            <a:r>
              <a:rPr lang="en-US" sz="2200" dirty="0" err="1">
                <a:latin typeface="Courier New"/>
              </a:rPr>
              <a:t>onStart</a:t>
            </a:r>
            <a:r>
              <a:rPr lang="en-US" sz="2200" dirty="0" smtClean="0">
                <a:latin typeface="Courier New"/>
              </a:rPr>
              <a:t>()</a:t>
            </a:r>
          </a:p>
          <a:p>
            <a:endParaRPr lang="en-US" sz="2200" dirty="0" smtClean="0">
              <a:latin typeface="Courier New"/>
            </a:endParaRPr>
          </a:p>
          <a:p>
            <a:r>
              <a:rPr lang="en-US" dirty="0" smtClean="0"/>
              <a:t>On receiving data, call one of the </a:t>
            </a:r>
            <a:r>
              <a:rPr lang="en-US" sz="2200" dirty="0">
                <a:latin typeface="Courier New"/>
              </a:rPr>
              <a:t>store() </a:t>
            </a:r>
            <a:r>
              <a:rPr lang="en-US" dirty="0" smtClean="0"/>
              <a:t>methods to store your data in the Block Manager</a:t>
            </a:r>
          </a:p>
          <a:p>
            <a:endParaRPr lang="en-US" dirty="0"/>
          </a:p>
          <a:p>
            <a:r>
              <a:rPr lang="en-US" dirty="0" smtClean="0"/>
              <a:t>Terminate connections, clean up in </a:t>
            </a:r>
            <a:r>
              <a:rPr lang="en-US" sz="2200" dirty="0" err="1">
                <a:latin typeface="Courier New"/>
              </a:rPr>
              <a:t>onStop</a:t>
            </a:r>
            <a:r>
              <a:rPr lang="en-US" sz="2200" dirty="0">
                <a:latin typeface="Courier New"/>
              </a:rPr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0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Simple Receiver - Workflow</a:t>
            </a:r>
            <a:endParaRPr lang="en-US" sz="3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34245" y="1993900"/>
            <a:ext cx="1226347" cy="12263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19825" y="1394144"/>
            <a:ext cx="1350718" cy="440433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6" name="Rounded Rectangle 15"/>
          <p:cNvSpPr/>
          <p:nvPr/>
        </p:nvSpPr>
        <p:spPr>
          <a:xfrm rot="5400000">
            <a:off x="7371840" y="1656308"/>
            <a:ext cx="430507" cy="11056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8048310" y="1876306"/>
            <a:ext cx="1112685" cy="299204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dirty="0" smtClean="0"/>
              <a:t>Event Stream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 rot="5400000">
            <a:off x="7160993" y="3328997"/>
            <a:ext cx="882816" cy="10692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Generator</a:t>
            </a:r>
          </a:p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Buffer</a:t>
            </a:r>
          </a:p>
        </p:txBody>
      </p:sp>
      <p:sp>
        <p:nvSpPr>
          <p:cNvPr id="30" name="Rounded Rectangle 29"/>
          <p:cNvSpPr/>
          <p:nvPr/>
        </p:nvSpPr>
        <p:spPr>
          <a:xfrm rot="5400000">
            <a:off x="7326209" y="4874791"/>
            <a:ext cx="588829" cy="11056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03512" y="1394144"/>
            <a:ext cx="5475879" cy="4457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Receive data from external system</a:t>
            </a:r>
          </a:p>
        </p:txBody>
      </p:sp>
    </p:spTree>
    <p:extLst>
      <p:ext uri="{BB962C8B-B14F-4D97-AF65-F5344CB8AC3E}">
        <p14:creationId xmlns:p14="http://schemas.microsoft.com/office/powerpoint/2010/main" val="400122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Simple Receiver - Workflow</a:t>
            </a:r>
            <a:endParaRPr lang="en-US" sz="3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34246" y="1993901"/>
            <a:ext cx="1251130" cy="12511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19825" y="1394144"/>
            <a:ext cx="1378014" cy="4457411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6" name="Rounded Rectangle 15"/>
          <p:cNvSpPr/>
          <p:nvPr/>
        </p:nvSpPr>
        <p:spPr>
          <a:xfrm rot="5400000">
            <a:off x="7380418" y="1647730"/>
            <a:ext cx="435695" cy="11280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8048310" y="1876306"/>
            <a:ext cx="1135170" cy="302810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dirty="0" smtClean="0"/>
              <a:t>Event Stream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 rot="5400000">
            <a:off x="7166479" y="3323510"/>
            <a:ext cx="893454" cy="10908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Generator</a:t>
            </a:r>
          </a:p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Buffer</a:t>
            </a:r>
          </a:p>
        </p:txBody>
      </p:sp>
      <p:sp>
        <p:nvSpPr>
          <p:cNvPr id="30" name="Rounded Rectangle 29"/>
          <p:cNvSpPr/>
          <p:nvPr/>
        </p:nvSpPr>
        <p:spPr>
          <a:xfrm rot="5400000">
            <a:off x="7333834" y="4867163"/>
            <a:ext cx="595925" cy="11280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7436481" y="2482269"/>
            <a:ext cx="1889351" cy="836590"/>
            <a:chOff x="6741671" y="3061139"/>
            <a:chExt cx="1703767" cy="826629"/>
          </a:xfrm>
        </p:grpSpPr>
        <p:grpSp>
          <p:nvGrpSpPr>
            <p:cNvPr id="19" name="Group 18"/>
            <p:cNvGrpSpPr/>
            <p:nvPr/>
          </p:nvGrpSpPr>
          <p:grpSpPr>
            <a:xfrm>
              <a:off x="6741671" y="3061139"/>
              <a:ext cx="263577" cy="826629"/>
              <a:chOff x="6741671" y="3155219"/>
              <a:chExt cx="263577" cy="826629"/>
            </a:xfrm>
          </p:grpSpPr>
          <p:sp>
            <p:nvSpPr>
              <p:cNvPr id="28" name="Left Arrow 27"/>
              <p:cNvSpPr/>
              <p:nvPr/>
            </p:nvSpPr>
            <p:spPr>
              <a:xfrm rot="16200000">
                <a:off x="6753784" y="3730384"/>
                <a:ext cx="239351" cy="263577"/>
              </a:xfrm>
              <a:prstGeom prst="lef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6809942" y="3155219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6809942" y="3448738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26" name="Rounded Rectangle 25"/>
            <p:cNvSpPr/>
            <p:nvPr/>
          </p:nvSpPr>
          <p:spPr>
            <a:xfrm rot="5400000">
              <a:off x="7479473" y="2734541"/>
              <a:ext cx="496212" cy="143571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Individual Events</a:t>
              </a:r>
            </a:p>
          </p:txBody>
        </p:sp>
      </p:grpSp>
      <p:sp>
        <p:nvSpPr>
          <p:cNvPr id="20" name="Content Placeholder 2"/>
          <p:cNvSpPr txBox="1">
            <a:spLocks/>
          </p:cNvSpPr>
          <p:nvPr/>
        </p:nvSpPr>
        <p:spPr>
          <a:xfrm>
            <a:off x="503512" y="1394144"/>
            <a:ext cx="5475879" cy="4457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Receive data from external system</a:t>
            </a:r>
          </a:p>
          <a:p>
            <a:endParaRPr lang="en-US" sz="2400" dirty="0" smtClean="0"/>
          </a:p>
          <a:p>
            <a:r>
              <a:rPr lang="en-US" sz="2400" dirty="0" smtClean="0"/>
              <a:t>For each “event” received – call </a:t>
            </a:r>
            <a:r>
              <a:rPr lang="en-US" sz="2400" dirty="0" smtClean="0">
                <a:latin typeface="Courier New"/>
                <a:cs typeface="Courier New"/>
              </a:rPr>
              <a:t>store()</a:t>
            </a:r>
          </a:p>
        </p:txBody>
      </p:sp>
    </p:spTree>
    <p:extLst>
      <p:ext uri="{BB962C8B-B14F-4D97-AF65-F5344CB8AC3E}">
        <p14:creationId xmlns:p14="http://schemas.microsoft.com/office/powerpoint/2010/main" val="57524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Simple Receiver - Workflow</a:t>
            </a:r>
            <a:endParaRPr lang="en-US" sz="3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34246" y="1993901"/>
            <a:ext cx="1251130" cy="12511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19825" y="1394144"/>
            <a:ext cx="1378014" cy="4457411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6" name="Rounded Rectangle 15"/>
          <p:cNvSpPr/>
          <p:nvPr/>
        </p:nvSpPr>
        <p:spPr>
          <a:xfrm rot="5400000">
            <a:off x="7380418" y="1647730"/>
            <a:ext cx="435695" cy="11280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8048310" y="1876306"/>
            <a:ext cx="1135170" cy="302810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dirty="0" smtClean="0"/>
              <a:t>Event Stream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 rot="5400000">
            <a:off x="7166479" y="3323510"/>
            <a:ext cx="893454" cy="10908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Generator</a:t>
            </a:r>
          </a:p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Buffer</a:t>
            </a:r>
          </a:p>
        </p:txBody>
      </p:sp>
      <p:sp>
        <p:nvSpPr>
          <p:cNvPr id="30" name="Rounded Rectangle 29"/>
          <p:cNvSpPr/>
          <p:nvPr/>
        </p:nvSpPr>
        <p:spPr>
          <a:xfrm rot="5400000">
            <a:off x="7333834" y="4867163"/>
            <a:ext cx="595925" cy="11280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503512" y="1394144"/>
            <a:ext cx="5475879" cy="4457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Receive data from external system</a:t>
            </a:r>
          </a:p>
          <a:p>
            <a:endParaRPr lang="en-US" sz="2400" dirty="0" smtClean="0"/>
          </a:p>
          <a:p>
            <a:r>
              <a:rPr lang="en-US" sz="2400" dirty="0" smtClean="0"/>
              <a:t>For each “event” received – call </a:t>
            </a:r>
            <a:r>
              <a:rPr lang="en-US" sz="2400" dirty="0" smtClean="0">
                <a:latin typeface="Courier New"/>
                <a:cs typeface="Courier New"/>
              </a:rPr>
              <a:t>store()</a:t>
            </a:r>
          </a:p>
          <a:p>
            <a:endParaRPr lang="en-US" sz="2400" dirty="0" smtClean="0"/>
          </a:p>
          <a:p>
            <a:r>
              <a:rPr lang="en-US" sz="2400" dirty="0" smtClean="0"/>
              <a:t>Send </a:t>
            </a:r>
            <a:r>
              <a:rPr lang="en-US" sz="2400" i="1" dirty="0" smtClean="0"/>
              <a:t>ACK</a:t>
            </a:r>
            <a:r>
              <a:rPr lang="en-US" sz="2400" dirty="0" smtClean="0"/>
              <a:t>. Actual storing is asynchronous</a:t>
            </a:r>
            <a:endParaRPr lang="en-US" sz="24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7436481" y="2482269"/>
            <a:ext cx="1889351" cy="836590"/>
            <a:chOff x="6741671" y="3061139"/>
            <a:chExt cx="1703767" cy="826629"/>
          </a:xfrm>
        </p:grpSpPr>
        <p:grpSp>
          <p:nvGrpSpPr>
            <p:cNvPr id="19" name="Group 18"/>
            <p:cNvGrpSpPr/>
            <p:nvPr/>
          </p:nvGrpSpPr>
          <p:grpSpPr>
            <a:xfrm>
              <a:off x="6741671" y="3061139"/>
              <a:ext cx="263577" cy="826629"/>
              <a:chOff x="6741671" y="3155219"/>
              <a:chExt cx="263577" cy="826629"/>
            </a:xfrm>
          </p:grpSpPr>
          <p:sp>
            <p:nvSpPr>
              <p:cNvPr id="28" name="Left Arrow 27"/>
              <p:cNvSpPr/>
              <p:nvPr/>
            </p:nvSpPr>
            <p:spPr>
              <a:xfrm rot="16200000">
                <a:off x="6753784" y="3730384"/>
                <a:ext cx="239351" cy="263577"/>
              </a:xfrm>
              <a:prstGeom prst="lef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6809942" y="3155219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6809942" y="3448738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26" name="Rounded Rectangle 25"/>
            <p:cNvSpPr/>
            <p:nvPr/>
          </p:nvSpPr>
          <p:spPr>
            <a:xfrm rot="5400000">
              <a:off x="7479473" y="2734541"/>
              <a:ext cx="496212" cy="143571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Individual Events</a:t>
              </a:r>
            </a:p>
          </p:txBody>
        </p:sp>
      </p:grpSp>
      <p:sp>
        <p:nvSpPr>
          <p:cNvPr id="20" name="Content Placeholder 16"/>
          <p:cNvSpPr txBox="1">
            <a:spLocks/>
          </p:cNvSpPr>
          <p:nvPr/>
        </p:nvSpPr>
        <p:spPr>
          <a:xfrm flipH="1">
            <a:off x="8085014" y="2175509"/>
            <a:ext cx="1094467" cy="280099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7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Simple Receiver - Workflow</a:t>
            </a:r>
            <a:endParaRPr lang="en-US" sz="3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34245" y="1993900"/>
            <a:ext cx="1263521" cy="12635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19825" y="1394144"/>
            <a:ext cx="1391662" cy="440433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6" name="Rounded Rectangle 15"/>
          <p:cNvSpPr/>
          <p:nvPr/>
        </p:nvSpPr>
        <p:spPr>
          <a:xfrm rot="5400000">
            <a:off x="7388598" y="1639550"/>
            <a:ext cx="430507" cy="11392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8048310" y="1876306"/>
            <a:ext cx="1146413" cy="299204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dirty="0" smtClean="0"/>
              <a:t>Event Stream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 rot="5400000">
            <a:off x="7177200" y="3312789"/>
            <a:ext cx="882816" cy="11016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Generator</a:t>
            </a:r>
          </a:p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Buffer</a:t>
            </a:r>
          </a:p>
        </p:txBody>
      </p:sp>
      <p:sp>
        <p:nvSpPr>
          <p:cNvPr id="30" name="Rounded Rectangle 29"/>
          <p:cNvSpPr/>
          <p:nvPr/>
        </p:nvSpPr>
        <p:spPr>
          <a:xfrm rot="5400000">
            <a:off x="7342968" y="4858029"/>
            <a:ext cx="588829" cy="11392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7436481" y="2482269"/>
            <a:ext cx="1908063" cy="826629"/>
            <a:chOff x="6741671" y="3061139"/>
            <a:chExt cx="1703767" cy="826629"/>
          </a:xfrm>
        </p:grpSpPr>
        <p:grpSp>
          <p:nvGrpSpPr>
            <p:cNvPr id="19" name="Group 18"/>
            <p:cNvGrpSpPr/>
            <p:nvPr/>
          </p:nvGrpSpPr>
          <p:grpSpPr>
            <a:xfrm>
              <a:off x="6741671" y="3061139"/>
              <a:ext cx="263577" cy="826629"/>
              <a:chOff x="6741671" y="3155219"/>
              <a:chExt cx="263577" cy="826629"/>
            </a:xfrm>
          </p:grpSpPr>
          <p:sp>
            <p:nvSpPr>
              <p:cNvPr id="28" name="Left Arrow 27"/>
              <p:cNvSpPr/>
              <p:nvPr/>
            </p:nvSpPr>
            <p:spPr>
              <a:xfrm rot="16200000">
                <a:off x="6753784" y="3730384"/>
                <a:ext cx="239351" cy="263577"/>
              </a:xfrm>
              <a:prstGeom prst="lef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6809942" y="3155219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6809942" y="3448738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26" name="Rounded Rectangle 25"/>
            <p:cNvSpPr/>
            <p:nvPr/>
          </p:nvSpPr>
          <p:spPr>
            <a:xfrm rot="5400000">
              <a:off x="7479473" y="2734541"/>
              <a:ext cx="496212" cy="143571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Individual Events</a:t>
              </a:r>
            </a:p>
          </p:txBody>
        </p:sp>
      </p:grpSp>
      <p:sp>
        <p:nvSpPr>
          <p:cNvPr id="20" name="Content Placeholder 16"/>
          <p:cNvSpPr txBox="1">
            <a:spLocks/>
          </p:cNvSpPr>
          <p:nvPr/>
        </p:nvSpPr>
        <p:spPr>
          <a:xfrm rot="16200000">
            <a:off x="7236312" y="4497758"/>
            <a:ext cx="729090" cy="428011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Block</a:t>
            </a:r>
            <a:endParaRPr lang="en-US" dirty="0"/>
          </a:p>
        </p:txBody>
      </p:sp>
      <p:sp>
        <p:nvSpPr>
          <p:cNvPr id="21" name="Content Placeholder 16"/>
          <p:cNvSpPr txBox="1">
            <a:spLocks/>
          </p:cNvSpPr>
          <p:nvPr/>
        </p:nvSpPr>
        <p:spPr>
          <a:xfrm flipH="1">
            <a:off x="8085014" y="2175510"/>
            <a:ext cx="1105307" cy="276764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ACK</a:t>
            </a:r>
            <a:endParaRPr lang="en-US" dirty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03512" y="1394144"/>
            <a:ext cx="5475879" cy="4866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Receive data from external system</a:t>
            </a:r>
          </a:p>
          <a:p>
            <a:endParaRPr lang="en-US" sz="2400" dirty="0" smtClean="0"/>
          </a:p>
          <a:p>
            <a:r>
              <a:rPr lang="en-US" sz="2400" dirty="0" smtClean="0"/>
              <a:t>For each “event” received – call </a:t>
            </a:r>
            <a:r>
              <a:rPr lang="en-US" sz="2400" dirty="0" smtClean="0">
                <a:latin typeface="Courier New"/>
                <a:cs typeface="Courier New"/>
              </a:rPr>
              <a:t>store()</a:t>
            </a:r>
          </a:p>
          <a:p>
            <a:endParaRPr lang="en-US" sz="2400" dirty="0" smtClean="0"/>
          </a:p>
          <a:p>
            <a:r>
              <a:rPr lang="en-US" sz="2400" dirty="0" smtClean="0"/>
              <a:t>Send </a:t>
            </a:r>
            <a:r>
              <a:rPr lang="en-US" sz="2400" i="1" dirty="0" smtClean="0"/>
              <a:t>ACK</a:t>
            </a:r>
            <a:r>
              <a:rPr lang="en-US" sz="2400" dirty="0" smtClean="0"/>
              <a:t>. Actual storing is asynchronous</a:t>
            </a:r>
          </a:p>
          <a:p>
            <a:endParaRPr lang="en-US" sz="2400" dirty="0"/>
          </a:p>
          <a:p>
            <a:r>
              <a:rPr lang="en-US" sz="2400" dirty="0"/>
              <a:t>Events buffered until a preset time interval before actually getting “pushed” to the Block Manager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311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Simple Receiver - Characteristics</a:t>
            </a:r>
            <a:endParaRPr lang="en-US" sz="3400" dirty="0"/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503512" y="1394144"/>
            <a:ext cx="5475879" cy="44574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Simplest to implement</a:t>
            </a:r>
          </a:p>
          <a:p>
            <a:endParaRPr lang="en-US" dirty="0" smtClean="0"/>
          </a:p>
          <a:p>
            <a:r>
              <a:rPr lang="en-US" dirty="0" smtClean="0"/>
              <a:t>Receiver does not know when data is actually pushed</a:t>
            </a:r>
          </a:p>
          <a:p>
            <a:endParaRPr lang="en-US" dirty="0" smtClean="0"/>
          </a:p>
          <a:p>
            <a:r>
              <a:rPr lang="en-US" dirty="0" smtClean="0"/>
              <a:t>Executor failure – all buffered, but not yet block-</a:t>
            </a:r>
            <a:r>
              <a:rPr lang="en-US" dirty="0" err="1" smtClean="0"/>
              <a:t>ified</a:t>
            </a:r>
            <a:r>
              <a:rPr lang="en-US" dirty="0" smtClean="0"/>
              <a:t> data is lost!</a:t>
            </a:r>
          </a:p>
          <a:p>
            <a:endParaRPr lang="en-US" dirty="0"/>
          </a:p>
          <a:p>
            <a:r>
              <a:rPr lang="en-US" dirty="0" smtClean="0"/>
              <a:t>Data loss even if WAL is enabled</a:t>
            </a:r>
          </a:p>
          <a:p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34245" y="1993900"/>
            <a:ext cx="1275911" cy="1275911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919825" y="1394144"/>
            <a:ext cx="1405309" cy="4457411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28" name="Rounded Rectangle 27"/>
          <p:cNvSpPr/>
          <p:nvPr/>
        </p:nvSpPr>
        <p:spPr>
          <a:xfrm rot="5400000">
            <a:off x="7391590" y="1636558"/>
            <a:ext cx="435695" cy="11503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29" name="Content Placeholder 16"/>
          <p:cNvSpPr txBox="1">
            <a:spLocks/>
          </p:cNvSpPr>
          <p:nvPr/>
        </p:nvSpPr>
        <p:spPr>
          <a:xfrm>
            <a:off x="8048310" y="1876306"/>
            <a:ext cx="1157655" cy="302810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smtClean="0"/>
              <a:t>Event Stream</a:t>
            </a:r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 rot="5400000">
            <a:off x="7177283" y="3312706"/>
            <a:ext cx="893454" cy="11124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Generator</a:t>
            </a:r>
          </a:p>
          <a:p>
            <a:pPr algn="ctr"/>
            <a:r>
              <a:rPr lang="en-US" sz="1400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Buffer</a:t>
            </a:r>
          </a:p>
        </p:txBody>
      </p:sp>
      <p:sp>
        <p:nvSpPr>
          <p:cNvPr id="32" name="Rounded Rectangle 31"/>
          <p:cNvSpPr/>
          <p:nvPr/>
        </p:nvSpPr>
        <p:spPr>
          <a:xfrm rot="5400000">
            <a:off x="7345006" y="4855991"/>
            <a:ext cx="595925" cy="11503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7436481" y="2482269"/>
            <a:ext cx="1926774" cy="836590"/>
            <a:chOff x="6741671" y="3061139"/>
            <a:chExt cx="1703767" cy="826629"/>
          </a:xfrm>
        </p:grpSpPr>
        <p:grpSp>
          <p:nvGrpSpPr>
            <p:cNvPr id="35" name="Group 34"/>
            <p:cNvGrpSpPr/>
            <p:nvPr/>
          </p:nvGrpSpPr>
          <p:grpSpPr>
            <a:xfrm>
              <a:off x="6741671" y="3061139"/>
              <a:ext cx="263577" cy="826629"/>
              <a:chOff x="6741671" y="3155219"/>
              <a:chExt cx="263577" cy="826629"/>
            </a:xfrm>
          </p:grpSpPr>
          <p:sp>
            <p:nvSpPr>
              <p:cNvPr id="38" name="Left Arrow 37"/>
              <p:cNvSpPr/>
              <p:nvPr/>
            </p:nvSpPr>
            <p:spPr>
              <a:xfrm rot="16200000">
                <a:off x="6753784" y="3730384"/>
                <a:ext cx="239351" cy="263577"/>
              </a:xfrm>
              <a:prstGeom prst="leftArrow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6809942" y="3155219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6809942" y="3448738"/>
                <a:ext cx="125434" cy="219519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mtClean="0">
                  <a:solidFill>
                    <a:prstClr val="white"/>
                  </a:solidFill>
                  <a:latin typeface="Helvetica Neue Light"/>
                  <a:cs typeface="Helvetica Neue Light"/>
                </a:endParaRPr>
              </a:p>
            </p:txBody>
          </p:sp>
        </p:grpSp>
        <p:sp>
          <p:nvSpPr>
            <p:cNvPr id="36" name="Rounded Rectangle 35"/>
            <p:cNvSpPr/>
            <p:nvPr/>
          </p:nvSpPr>
          <p:spPr>
            <a:xfrm rot="5400000">
              <a:off x="7479473" y="2734541"/>
              <a:ext cx="496212" cy="143571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Helvetica Neue Light"/>
                  <a:cs typeface="Helvetica Neue Light"/>
                </a:rPr>
                <a:t>Individual Events</a:t>
              </a:r>
            </a:p>
          </p:txBody>
        </p:sp>
      </p:grpSp>
      <p:sp>
        <p:nvSpPr>
          <p:cNvPr id="41" name="Content Placeholder 16"/>
          <p:cNvSpPr txBox="1">
            <a:spLocks/>
          </p:cNvSpPr>
          <p:nvPr/>
        </p:nvSpPr>
        <p:spPr>
          <a:xfrm rot="16200000">
            <a:off x="7234018" y="4500053"/>
            <a:ext cx="737876" cy="432208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Block</a:t>
            </a:r>
            <a:endParaRPr lang="en-US" dirty="0"/>
          </a:p>
        </p:txBody>
      </p:sp>
      <p:sp>
        <p:nvSpPr>
          <p:cNvPr id="42" name="Content Placeholder 16"/>
          <p:cNvSpPr txBox="1">
            <a:spLocks/>
          </p:cNvSpPr>
          <p:nvPr/>
        </p:nvSpPr>
        <p:spPr>
          <a:xfrm flipH="1">
            <a:off x="8085015" y="2175509"/>
            <a:ext cx="1116146" cy="280099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24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Reliable Receiver - Workflow</a:t>
            </a:r>
            <a:endParaRPr lang="en-US" sz="3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9404" y="1993901"/>
            <a:ext cx="1264892" cy="12648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94983" y="1394145"/>
            <a:ext cx="1393172" cy="288631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6" name="Rounded Rectangle 15"/>
          <p:cNvSpPr/>
          <p:nvPr/>
        </p:nvSpPr>
        <p:spPr>
          <a:xfrm rot="5400000">
            <a:off x="6664374" y="1638932"/>
            <a:ext cx="430507" cy="114044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7381612" y="1905766"/>
            <a:ext cx="904574" cy="293324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dirty="0" smtClean="0"/>
              <a:t>Event Stream</a:t>
            </a:r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 rot="5400000">
            <a:off x="6585213" y="3292546"/>
            <a:ext cx="588829" cy="114044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503512" y="1394144"/>
            <a:ext cx="5475879" cy="4457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Receive data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93772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Reliable Receiver - Workflow</a:t>
            </a:r>
            <a:endParaRPr lang="en-US" sz="3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9403" y="1993900"/>
            <a:ext cx="1227719" cy="12277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94983" y="1394145"/>
            <a:ext cx="1352229" cy="288631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6" name="Rounded Rectangle 15"/>
          <p:cNvSpPr/>
          <p:nvPr/>
        </p:nvSpPr>
        <p:spPr>
          <a:xfrm rot="5400000">
            <a:off x="6647617" y="1655690"/>
            <a:ext cx="430507" cy="11069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7326641" y="1906809"/>
            <a:ext cx="984335" cy="293324"/>
          </a:xfrm>
          <a:prstGeom prst="leftArrow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dirty="0" smtClean="0"/>
              <a:t>Event Stream</a:t>
            </a:r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 rot="5400000">
            <a:off x="6568456" y="3309304"/>
            <a:ext cx="588829" cy="11069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503512" y="1394144"/>
            <a:ext cx="5475879" cy="4457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Receive data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Buffer data internally until enough data for a block is received</a:t>
            </a:r>
          </a:p>
          <a:p>
            <a:endParaRPr lang="en-US" sz="2400" dirty="0"/>
          </a:p>
          <a:p>
            <a:r>
              <a:rPr lang="en-US" sz="2400" dirty="0"/>
              <a:t>Or push block for each batch received (if the external system is batch-aware)</a:t>
            </a:r>
          </a:p>
          <a:p>
            <a:endParaRPr lang="en-US" sz="2400" dirty="0"/>
          </a:p>
          <a:p>
            <a:endParaRPr lang="en-US" sz="2400" dirty="0" smtClean="0"/>
          </a:p>
        </p:txBody>
      </p:sp>
      <p:sp>
        <p:nvSpPr>
          <p:cNvPr id="9" name="Content Placeholder 16"/>
          <p:cNvSpPr txBox="1">
            <a:spLocks/>
          </p:cNvSpPr>
          <p:nvPr/>
        </p:nvSpPr>
        <p:spPr>
          <a:xfrm rot="16200000">
            <a:off x="6340041" y="2815041"/>
            <a:ext cx="965122" cy="415146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Block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61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Reliable Receiver - Workflow</a:t>
            </a:r>
            <a:endParaRPr lang="en-US" sz="3400" dirty="0"/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503512" y="1394144"/>
            <a:ext cx="5475879" cy="50331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Receive data</a:t>
            </a:r>
          </a:p>
          <a:p>
            <a:endParaRPr lang="en-US" sz="2400" dirty="0"/>
          </a:p>
          <a:p>
            <a:r>
              <a:rPr lang="en-US" sz="2400" dirty="0" smtClean="0"/>
              <a:t>Buffer data internally until enough data for a block is received</a:t>
            </a:r>
          </a:p>
          <a:p>
            <a:endParaRPr lang="en-US" sz="2400" dirty="0" smtClean="0"/>
          </a:p>
          <a:p>
            <a:r>
              <a:rPr lang="en-US" sz="2400" dirty="0" smtClean="0"/>
              <a:t>Or push block for each batch received (if the external system is batch-aware)</a:t>
            </a:r>
          </a:p>
          <a:p>
            <a:endParaRPr lang="en-US" sz="2400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9403" y="1993900"/>
            <a:ext cx="1252501" cy="12525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94983" y="1394145"/>
            <a:ext cx="1379524" cy="288631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2" name="Rounded Rectangle 11"/>
          <p:cNvSpPr/>
          <p:nvPr/>
        </p:nvSpPr>
        <p:spPr>
          <a:xfrm rot="5400000">
            <a:off x="6658788" y="1644518"/>
            <a:ext cx="430507" cy="11292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13" name="Content Placeholder 16"/>
          <p:cNvSpPr txBox="1">
            <a:spLocks/>
          </p:cNvSpPr>
          <p:nvPr/>
        </p:nvSpPr>
        <p:spPr>
          <a:xfrm>
            <a:off x="7326642" y="1906809"/>
            <a:ext cx="1004204" cy="293324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smtClean="0"/>
              <a:t>Event Stream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 rot="5400000">
            <a:off x="6579627" y="3298132"/>
            <a:ext cx="588829" cy="11292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sp>
        <p:nvSpPr>
          <p:cNvPr id="15" name="Content Placeholder 16"/>
          <p:cNvSpPr txBox="1">
            <a:spLocks/>
          </p:cNvSpPr>
          <p:nvPr/>
        </p:nvSpPr>
        <p:spPr>
          <a:xfrm rot="16200000">
            <a:off x="6344231" y="2810851"/>
            <a:ext cx="965122" cy="423526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Block</a:t>
            </a: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01975" y="4926404"/>
            <a:ext cx="8946303" cy="13261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Push an entire block using </a:t>
            </a:r>
          </a:p>
          <a:p>
            <a:pPr marL="346075" lvl="1" indent="0">
              <a:buNone/>
            </a:pPr>
            <a:r>
              <a:rPr lang="en-US" sz="2000" dirty="0" smtClean="0">
                <a:latin typeface="Courier New"/>
                <a:cs typeface="Courier New"/>
              </a:rPr>
              <a:t>store(</a:t>
            </a:r>
            <a:r>
              <a:rPr lang="en-US" sz="2000" dirty="0" err="1" smtClean="0">
                <a:latin typeface="Courier New"/>
                <a:cs typeface="Courier New"/>
              </a:rPr>
              <a:t>ArrayBuffer</a:t>
            </a:r>
            <a:r>
              <a:rPr lang="en-US" sz="2000" dirty="0" smtClean="0">
                <a:latin typeface="Courier New"/>
                <a:cs typeface="Courier New"/>
              </a:rPr>
              <a:t>), store(Iterator), store(</a:t>
            </a:r>
            <a:r>
              <a:rPr lang="en-US" sz="2000" dirty="0" err="1" smtClean="0">
                <a:latin typeface="Courier New"/>
                <a:cs typeface="Courier New"/>
              </a:rPr>
              <a:t>ByteBuffer</a:t>
            </a:r>
            <a:r>
              <a:rPr lang="en-US" sz="2000" dirty="0" smtClean="0">
                <a:latin typeface="Courier New"/>
                <a:cs typeface="Courier New"/>
              </a:rPr>
              <a:t>)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4689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Reliable Receiver </a:t>
            </a:r>
            <a:r>
              <a:rPr lang="en-US" sz="3400" dirty="0" smtClean="0"/>
              <a:t>- </a:t>
            </a:r>
            <a:r>
              <a:rPr lang="en-US" sz="3400" dirty="0"/>
              <a:t>Workflow</a:t>
            </a:r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503512" y="1394144"/>
            <a:ext cx="5163531" cy="5126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Receive data</a:t>
            </a:r>
          </a:p>
          <a:p>
            <a:endParaRPr lang="en-US" sz="2400" dirty="0"/>
          </a:p>
          <a:p>
            <a:r>
              <a:rPr lang="en-US" sz="2400" dirty="0" smtClean="0"/>
              <a:t>Buffer data internally until enough data for a block is received</a:t>
            </a:r>
          </a:p>
          <a:p>
            <a:endParaRPr lang="en-US" sz="2400" dirty="0" smtClean="0"/>
          </a:p>
          <a:p>
            <a:r>
              <a:rPr lang="en-US" sz="2400" dirty="0" smtClean="0"/>
              <a:t>Or push block for each batch received (if the external system is batch-aware)</a:t>
            </a:r>
          </a:p>
          <a:p>
            <a:endParaRPr lang="en-US" sz="2400" dirty="0"/>
          </a:p>
          <a:p>
            <a:endParaRPr lang="en-US" sz="2400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9404" y="1993901"/>
            <a:ext cx="1264892" cy="12648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94983" y="1394145"/>
            <a:ext cx="1393172" cy="288631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2" name="Rounded Rectangle 11"/>
          <p:cNvSpPr/>
          <p:nvPr/>
        </p:nvSpPr>
        <p:spPr>
          <a:xfrm rot="5400000">
            <a:off x="6664374" y="1638932"/>
            <a:ext cx="430507" cy="114044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13" name="Content Placeholder 16"/>
          <p:cNvSpPr txBox="1">
            <a:spLocks/>
          </p:cNvSpPr>
          <p:nvPr/>
        </p:nvSpPr>
        <p:spPr>
          <a:xfrm>
            <a:off x="7326641" y="1906809"/>
            <a:ext cx="1014139" cy="293324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smtClean="0"/>
              <a:t>Event Stream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 rot="5400000">
            <a:off x="6585213" y="3292546"/>
            <a:ext cx="588829" cy="114044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sp>
        <p:nvSpPr>
          <p:cNvPr id="15" name="Content Placeholder 16"/>
          <p:cNvSpPr txBox="1">
            <a:spLocks/>
          </p:cNvSpPr>
          <p:nvPr/>
        </p:nvSpPr>
        <p:spPr>
          <a:xfrm rot="16200000">
            <a:off x="6346326" y="2808756"/>
            <a:ext cx="965122" cy="427716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Block</a:t>
            </a:r>
            <a:endParaRPr lang="en-US" dirty="0"/>
          </a:p>
        </p:txBody>
      </p:sp>
      <p:sp>
        <p:nvSpPr>
          <p:cNvPr id="16" name="Content Placeholder 16"/>
          <p:cNvSpPr txBox="1">
            <a:spLocks/>
          </p:cNvSpPr>
          <p:nvPr/>
        </p:nvSpPr>
        <p:spPr>
          <a:xfrm rot="10800000" flipV="1">
            <a:off x="7367797" y="2200133"/>
            <a:ext cx="1014139" cy="293324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ACK</a:t>
            </a:r>
            <a:endParaRPr lang="en-US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01975" y="4926404"/>
            <a:ext cx="8946303" cy="1712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Push an entire block using </a:t>
            </a:r>
          </a:p>
          <a:p>
            <a:pPr marL="346075" lvl="1" indent="0">
              <a:buNone/>
            </a:pPr>
            <a:r>
              <a:rPr lang="en-US" sz="2000" dirty="0" smtClean="0">
                <a:latin typeface="Courier New"/>
                <a:cs typeface="Courier New"/>
              </a:rPr>
              <a:t>store(</a:t>
            </a:r>
            <a:r>
              <a:rPr lang="en-US" sz="2000" dirty="0" err="1" smtClean="0">
                <a:latin typeface="Courier New"/>
                <a:cs typeface="Courier New"/>
              </a:rPr>
              <a:t>ArrayBuffer</a:t>
            </a:r>
            <a:r>
              <a:rPr lang="en-US" sz="2000" dirty="0" smtClean="0">
                <a:latin typeface="Courier New"/>
                <a:cs typeface="Courier New"/>
              </a:rPr>
              <a:t>), store(Iterator), store(</a:t>
            </a:r>
            <a:r>
              <a:rPr lang="en-US" sz="2000" dirty="0" err="1" smtClean="0">
                <a:latin typeface="Courier New"/>
                <a:cs typeface="Courier New"/>
              </a:rPr>
              <a:t>ByteBuffer</a:t>
            </a:r>
            <a:r>
              <a:rPr lang="en-US" sz="2000" dirty="0" smtClean="0">
                <a:latin typeface="Courier New"/>
                <a:cs typeface="Courier New"/>
              </a:rPr>
              <a:t>)</a:t>
            </a:r>
          </a:p>
          <a:p>
            <a:endParaRPr lang="en-US" sz="2400" dirty="0" smtClean="0"/>
          </a:p>
          <a:p>
            <a:r>
              <a:rPr lang="en-US" sz="2400" dirty="0" smtClean="0"/>
              <a:t>ACK once </a:t>
            </a:r>
            <a:r>
              <a:rPr lang="en-US" sz="2000" dirty="0">
                <a:latin typeface="Courier New"/>
                <a:cs typeface="Courier New"/>
              </a:rPr>
              <a:t>store</a:t>
            </a:r>
            <a:r>
              <a:rPr lang="en-US" sz="2400" dirty="0" smtClean="0">
                <a:latin typeface="Courier New"/>
                <a:cs typeface="Courier New"/>
              </a:rPr>
              <a:t>() </a:t>
            </a:r>
            <a:r>
              <a:rPr lang="en-US" sz="2400" dirty="0" smtClean="0"/>
              <a:t>returns</a:t>
            </a:r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48334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Reliable Receiver </a:t>
            </a:r>
            <a:r>
              <a:rPr lang="en-US" sz="3400" dirty="0" smtClean="0"/>
              <a:t>– Characteristics</a:t>
            </a:r>
            <a:endParaRPr lang="en-US" sz="3400" dirty="0"/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503512" y="1394144"/>
            <a:ext cx="5475879" cy="50559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Reliable – no data loss on driver or executor failure</a:t>
            </a:r>
          </a:p>
          <a:p>
            <a:endParaRPr lang="en-US" dirty="0"/>
          </a:p>
          <a:p>
            <a:r>
              <a:rPr lang="en-US" dirty="0" smtClean="0"/>
              <a:t>“Less simple” to implement – depends on source type</a:t>
            </a:r>
          </a:p>
          <a:p>
            <a:endParaRPr lang="en-US" dirty="0"/>
          </a:p>
          <a:p>
            <a:r>
              <a:rPr lang="en-US" dirty="0" smtClean="0"/>
              <a:t>No Rate Limiting</a:t>
            </a:r>
          </a:p>
          <a:p>
            <a:endParaRPr lang="en-US" dirty="0"/>
          </a:p>
          <a:p>
            <a:r>
              <a:rPr lang="en-US" dirty="0" smtClean="0"/>
              <a:t>Depending on batch-size, each block may be too big or too small</a:t>
            </a:r>
          </a:p>
          <a:p>
            <a:endParaRPr lang="en-US" dirty="0"/>
          </a:p>
          <a:p>
            <a:r>
              <a:rPr lang="en-US" dirty="0" smtClean="0"/>
              <a:t>Can create too many blocks or too few blocks per Streaming batch</a:t>
            </a:r>
            <a:endParaRPr lang="en-US" dirty="0"/>
          </a:p>
          <a:p>
            <a:endParaRPr lang="en-US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9404" y="1993901"/>
            <a:ext cx="1302066" cy="13020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94983" y="1394145"/>
            <a:ext cx="1434116" cy="288631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Executor</a:t>
            </a:r>
          </a:p>
        </p:txBody>
      </p:sp>
      <p:sp>
        <p:nvSpPr>
          <p:cNvPr id="12" name="Rounded Rectangle 11"/>
          <p:cNvSpPr/>
          <p:nvPr/>
        </p:nvSpPr>
        <p:spPr>
          <a:xfrm rot="5400000">
            <a:off x="6681133" y="1622174"/>
            <a:ext cx="430507" cy="11739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Receiver</a:t>
            </a:r>
          </a:p>
        </p:txBody>
      </p:sp>
      <p:sp>
        <p:nvSpPr>
          <p:cNvPr id="13" name="Content Placeholder 16"/>
          <p:cNvSpPr txBox="1">
            <a:spLocks/>
          </p:cNvSpPr>
          <p:nvPr/>
        </p:nvSpPr>
        <p:spPr>
          <a:xfrm>
            <a:off x="7326642" y="1906809"/>
            <a:ext cx="1043944" cy="293324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smtClean="0"/>
              <a:t>Event Stream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 rot="5400000">
            <a:off x="6601972" y="3275788"/>
            <a:ext cx="588829" cy="11739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Helvetica Neue Light"/>
                <a:cs typeface="Helvetica Neue Light"/>
              </a:rPr>
              <a:t>Block Manager</a:t>
            </a:r>
          </a:p>
        </p:txBody>
      </p:sp>
      <p:sp>
        <p:nvSpPr>
          <p:cNvPr id="15" name="Content Placeholder 16"/>
          <p:cNvSpPr txBox="1">
            <a:spLocks/>
          </p:cNvSpPr>
          <p:nvPr/>
        </p:nvSpPr>
        <p:spPr>
          <a:xfrm rot="16200000">
            <a:off x="6352611" y="2802471"/>
            <a:ext cx="965122" cy="440286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Block</a:t>
            </a:r>
            <a:endParaRPr lang="en-US" dirty="0"/>
          </a:p>
        </p:txBody>
      </p:sp>
      <p:sp>
        <p:nvSpPr>
          <p:cNvPr id="16" name="Content Placeholder 16"/>
          <p:cNvSpPr txBox="1">
            <a:spLocks/>
          </p:cNvSpPr>
          <p:nvPr/>
        </p:nvSpPr>
        <p:spPr>
          <a:xfrm rot="10800000" flipV="1">
            <a:off x="7367798" y="2200133"/>
            <a:ext cx="1043944" cy="293324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marL="346075" marR="0" indent="-3460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&gt;"/>
              <a:tabLst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Lucida Grande"/>
              <a:buChar char="-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Arial"/>
              <a:buChar char="•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BAFF">
                  <a:lumMod val="90000"/>
                </a:srgbClr>
              </a:buClr>
              <a:buSzTx/>
              <a:buFont typeface="Wingdings" charset="2"/>
              <a:buChar char="§"/>
              <a:tabLst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Lucida Grande"/>
              <a:buNone/>
            </a:pPr>
            <a:r>
              <a:rPr lang="en-US" dirty="0" smtClean="0"/>
              <a:t>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2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Which workflow to use for my receiver? 	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437696" cy="4251355"/>
          </a:xfrm>
        </p:spPr>
        <p:txBody>
          <a:bodyPr>
            <a:normAutofit/>
          </a:bodyPr>
          <a:lstStyle/>
          <a:p>
            <a:r>
              <a:rPr lang="en-US" dirty="0" smtClean="0"/>
              <a:t>Depends on your requirements</a:t>
            </a:r>
          </a:p>
          <a:p>
            <a:pPr lvl="1"/>
            <a:r>
              <a:rPr lang="en-US" dirty="0" smtClean="0"/>
              <a:t>Simple Receiver: Simple to write,</a:t>
            </a:r>
            <a:r>
              <a:rPr lang="en-US" dirty="0"/>
              <a:t> </a:t>
            </a:r>
            <a:r>
              <a:rPr lang="en-US" dirty="0" smtClean="0"/>
              <a:t>but no guarantees</a:t>
            </a:r>
          </a:p>
          <a:p>
            <a:pPr lvl="1"/>
            <a:r>
              <a:rPr lang="en-US" dirty="0" smtClean="0"/>
              <a:t>Reliable Receiver: Guaranteed to be reliably stored</a:t>
            </a:r>
          </a:p>
          <a:p>
            <a:endParaRPr lang="en-US" dirty="0" smtClean="0"/>
          </a:p>
          <a:p>
            <a:r>
              <a:rPr lang="en-US" dirty="0" smtClean="0"/>
              <a:t>To ensure there is no data loss:</a:t>
            </a:r>
          </a:p>
          <a:p>
            <a:pPr lvl="1"/>
            <a:r>
              <a:rPr lang="en-US" dirty="0" smtClean="0"/>
              <a:t>Enable WAL for your application via configuration</a:t>
            </a:r>
          </a:p>
          <a:p>
            <a:pPr lvl="1"/>
            <a:r>
              <a:rPr lang="en-US" dirty="0" smtClean="0"/>
              <a:t>Use a </a:t>
            </a:r>
            <a:r>
              <a:rPr lang="en-US" i="1" dirty="0" smtClean="0"/>
              <a:t>Reliable Receiver </a:t>
            </a:r>
            <a:r>
              <a:rPr lang="en-US" dirty="0" smtClean="0"/>
              <a:t>to receiver data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1622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End-to-end Driver Recovery Guarantees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03512" y="4286938"/>
            <a:ext cx="8183288" cy="1564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Kafka and Flume – see docs for configuring with WAL</a:t>
            </a:r>
            <a:endParaRPr lang="en-US" sz="2400" dirty="0"/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9288402"/>
              </p:ext>
            </p:extLst>
          </p:nvPr>
        </p:nvGraphicFramePr>
        <p:xfrm>
          <a:off x="503238" y="1600200"/>
          <a:ext cx="818356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279"/>
                <a:gridCol w="2150503"/>
                <a:gridCol w="2045891"/>
                <a:gridCol w="2045891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Spark</a:t>
                      </a:r>
                      <a:r>
                        <a:rPr lang="en-US" baseline="0" dirty="0" smtClean="0"/>
                        <a:t> 1.1- or Spark 1.2 w/o 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Spark 1.2 with WAL + Simple Receiver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Spark 1.2 with WAL + Reliable Receiver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received</a:t>
                      </a:r>
                      <a:r>
                        <a:rPr lang="en-US" baseline="0" dirty="0" smtClean="0"/>
                        <a:t> but not saved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2"/>
                          </a:solidFill>
                        </a:rPr>
                        <a:t>Lost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2"/>
                          </a:solidFill>
                        </a:rPr>
                        <a:t>Lost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3"/>
                          </a:solidFill>
                        </a:rPr>
                        <a:t>Recovered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solidFill>
                      <a:srgbClr val="EBF1D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saved</a:t>
                      </a:r>
                      <a:r>
                        <a:rPr lang="en-US" baseline="0" dirty="0" smtClean="0"/>
                        <a:t> but not processed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3"/>
                          </a:solidFill>
                        </a:rPr>
                        <a:t>Recovered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3"/>
                          </a:solidFill>
                        </a:rPr>
                        <a:t>Recovered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solidFill>
                      <a:srgbClr val="EBF1D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58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I set up Driver HA???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8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Setting up Driver HA </a:t>
            </a:r>
            <a:r>
              <a:rPr lang="en-US" dirty="0">
                <a:solidFill>
                  <a:schemeClr val="accent3"/>
                </a:solidFill>
              </a:rPr>
              <a:t>[Spark 1.1]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1" y="1600200"/>
            <a:ext cx="8863469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Write your streaming application such that it can be restarted any time</a:t>
            </a:r>
          </a:p>
          <a:p>
            <a:pPr lvl="1"/>
            <a:r>
              <a:rPr lang="en-US" dirty="0"/>
              <a:t>Set checkpoint directory using </a:t>
            </a:r>
            <a:r>
              <a:rPr lang="en-US" sz="2000" dirty="0" err="1">
                <a:latin typeface="Courier New"/>
                <a:cs typeface="Courier New"/>
              </a:rPr>
              <a:t>StreamingContext.checkpoint</a:t>
            </a:r>
            <a:r>
              <a:rPr lang="en-US" sz="2000" dirty="0" smtClean="0">
                <a:latin typeface="Courier New"/>
                <a:cs typeface="Courier New"/>
              </a:rPr>
              <a:t>(&lt;HDFS </a:t>
            </a:r>
            <a:r>
              <a:rPr lang="en-US" sz="2000" dirty="0" err="1" smtClean="0">
                <a:latin typeface="Courier New"/>
                <a:cs typeface="Courier New"/>
              </a:rPr>
              <a:t>dir</a:t>
            </a:r>
            <a:r>
              <a:rPr lang="en-US" sz="2000" dirty="0" smtClean="0">
                <a:latin typeface="Courier New"/>
                <a:cs typeface="Courier New"/>
              </a:rPr>
              <a:t>&gt;)</a:t>
            </a:r>
            <a:endParaRPr lang="en-US" sz="2000" dirty="0">
              <a:latin typeface="Courier New"/>
              <a:cs typeface="Courier New"/>
            </a:endParaRPr>
          </a:p>
          <a:p>
            <a:pPr lvl="1"/>
            <a:r>
              <a:rPr lang="en-US" dirty="0" smtClean="0"/>
              <a:t>Create or restart </a:t>
            </a:r>
            <a:r>
              <a:rPr lang="en-US" dirty="0" err="1" smtClean="0"/>
              <a:t>StreamingContext</a:t>
            </a:r>
            <a:r>
              <a:rPr lang="en-US" dirty="0" smtClean="0"/>
              <a:t> using </a:t>
            </a:r>
            <a:r>
              <a:rPr lang="en-US" sz="2000" dirty="0" err="1" smtClean="0">
                <a:latin typeface="Courier New"/>
                <a:cs typeface="Courier New"/>
              </a:rPr>
              <a:t>StreamingContext.getOrCreate</a:t>
            </a:r>
            <a:r>
              <a:rPr lang="en-US" sz="2000" dirty="0" smtClean="0">
                <a:latin typeface="Courier New"/>
                <a:cs typeface="Courier New"/>
              </a:rPr>
              <a:t>(...)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Configure your infrastructure to automatically restart streaming app if it fails</a:t>
            </a:r>
          </a:p>
          <a:p>
            <a:pPr lvl="1"/>
            <a:r>
              <a:rPr lang="en-US" dirty="0" smtClean="0"/>
              <a:t>Spark standalone – submit in cluster mode with –supervise</a:t>
            </a:r>
          </a:p>
          <a:p>
            <a:pPr lvl="1"/>
            <a:r>
              <a:rPr lang="en-US" dirty="0" smtClean="0"/>
              <a:t>YARN – submit in cluster mode</a:t>
            </a:r>
          </a:p>
          <a:p>
            <a:pPr lvl="1"/>
            <a:r>
              <a:rPr lang="en-US" dirty="0" err="1" smtClean="0"/>
              <a:t>Mesos</a:t>
            </a:r>
            <a:r>
              <a:rPr lang="en-US" dirty="0" smtClean="0"/>
              <a:t> – submit using Marathon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72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Setting up Driver HA </a:t>
            </a:r>
            <a:r>
              <a:rPr lang="en-US" sz="3600" dirty="0" smtClean="0"/>
              <a:t>+ WAL </a:t>
            </a:r>
            <a:r>
              <a:rPr lang="en-US" sz="3600" dirty="0" smtClean="0">
                <a:solidFill>
                  <a:schemeClr val="accent3"/>
                </a:solidFill>
              </a:rPr>
              <a:t>[</a:t>
            </a:r>
            <a:r>
              <a:rPr lang="en-US" sz="3600" dirty="0">
                <a:solidFill>
                  <a:schemeClr val="accent3"/>
                </a:solidFill>
              </a:rPr>
              <a:t>Spark </a:t>
            </a:r>
            <a:r>
              <a:rPr lang="en-US" sz="3600" dirty="0" smtClean="0">
                <a:solidFill>
                  <a:schemeClr val="accent3"/>
                </a:solidFill>
              </a:rPr>
              <a:t>1.2]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592859"/>
            <a:ext cx="9032308" cy="4251355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Write your streaming application such that it can be restarted any time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Configure your infrastructure to automatically restart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streaming app if it fails</a:t>
            </a:r>
          </a:p>
          <a:p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i="1" dirty="0" smtClean="0"/>
              <a:t>Optionally,</a:t>
            </a:r>
            <a:r>
              <a:rPr lang="en-US" dirty="0" smtClean="0"/>
              <a:t> </a:t>
            </a:r>
            <a:r>
              <a:rPr lang="en-US" dirty="0"/>
              <a:t>enable WAL</a:t>
            </a:r>
          </a:p>
          <a:p>
            <a:pPr marL="457200" lvl="1" indent="0">
              <a:buNone/>
            </a:pPr>
            <a:r>
              <a:rPr lang="en-US" dirty="0"/>
              <a:t>Set </a:t>
            </a:r>
            <a:r>
              <a:rPr lang="en-US" sz="2000" dirty="0" err="1" smtClean="0">
                <a:latin typeface="Courier New"/>
                <a:cs typeface="Courier New"/>
              </a:rPr>
              <a:t>SparkConf</a:t>
            </a:r>
            <a:r>
              <a:rPr lang="en-US" sz="2000" dirty="0" smtClean="0"/>
              <a:t> </a:t>
            </a:r>
            <a:r>
              <a:rPr lang="en-US" dirty="0"/>
              <a:t>configuration </a:t>
            </a:r>
            <a:r>
              <a:rPr lang="en-US" sz="2000" dirty="0" err="1">
                <a:latin typeface="Courier New"/>
                <a:cs typeface="Courier New"/>
              </a:rPr>
              <a:t>spark.streaming.receiver.writeAheadLog.enable</a:t>
            </a:r>
            <a:r>
              <a:rPr lang="en-US" sz="2000" dirty="0"/>
              <a:t> </a:t>
            </a:r>
            <a:r>
              <a:rPr lang="en-US" dirty="0"/>
              <a:t>to </a:t>
            </a:r>
            <a:r>
              <a:rPr lang="en-US" sz="2000" dirty="0">
                <a:latin typeface="Courier New"/>
                <a:cs typeface="Courier New"/>
              </a:rPr>
              <a:t>true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43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Performance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555150" cy="4251355"/>
          </a:xfrm>
        </p:spPr>
        <p:txBody>
          <a:bodyPr>
            <a:normAutofit/>
          </a:bodyPr>
          <a:lstStyle/>
          <a:p>
            <a:r>
              <a:rPr lang="en-US" dirty="0" smtClean="0"/>
              <a:t>Can </a:t>
            </a:r>
            <a:r>
              <a:rPr lang="en-US" dirty="0"/>
              <a:t>reduce </a:t>
            </a:r>
            <a:r>
              <a:rPr lang="en-US" dirty="0" smtClean="0"/>
              <a:t>throughput-per-receiver </a:t>
            </a:r>
            <a:r>
              <a:rPr lang="en-US" dirty="0"/>
              <a:t>when enabled</a:t>
            </a:r>
          </a:p>
          <a:p>
            <a:pPr lvl="1"/>
            <a:r>
              <a:rPr lang="en-US" dirty="0"/>
              <a:t>Limited by </a:t>
            </a:r>
            <a:r>
              <a:rPr lang="en-US" dirty="0" smtClean="0"/>
              <a:t>disk throughput and network bandwidth used for HDFS replication</a:t>
            </a:r>
          </a:p>
          <a:p>
            <a:pPr lvl="1"/>
            <a:r>
              <a:rPr lang="en-US" i="1" dirty="0" smtClean="0"/>
              <a:t>Will improve in later releases</a:t>
            </a:r>
            <a:endParaRPr lang="en-US" i="1" dirty="0"/>
          </a:p>
          <a:p>
            <a:endParaRPr lang="en-US" dirty="0" smtClean="0"/>
          </a:p>
          <a:p>
            <a:r>
              <a:rPr lang="en-US" dirty="0" smtClean="0"/>
              <a:t>Run </a:t>
            </a:r>
            <a:r>
              <a:rPr lang="en-US" dirty="0"/>
              <a:t>multiple receivers to increase aggregate throughput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7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Spark 1.2</a:t>
            </a:r>
          </a:p>
          <a:p>
            <a:pPr lvl="1"/>
            <a:r>
              <a:rPr lang="en-US" dirty="0" smtClean="0"/>
              <a:t>WAL based driver recovery</a:t>
            </a:r>
          </a:p>
          <a:p>
            <a:pPr lvl="1"/>
            <a:r>
              <a:rPr lang="en-US" dirty="0" smtClean="0"/>
              <a:t>Basic Python API</a:t>
            </a:r>
          </a:p>
          <a:p>
            <a:pPr lvl="1"/>
            <a:r>
              <a:rPr lang="en-US" dirty="0" smtClean="0"/>
              <a:t>Streaming </a:t>
            </a:r>
            <a:r>
              <a:rPr lang="en-US" dirty="0" err="1" smtClean="0"/>
              <a:t>KMeans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Spark 1.3 and beyond</a:t>
            </a:r>
          </a:p>
          <a:p>
            <a:pPr lvl="1"/>
            <a:r>
              <a:rPr lang="en-US" dirty="0" smtClean="0"/>
              <a:t>Improvements to the driver recovery – performance and stability</a:t>
            </a:r>
          </a:p>
          <a:p>
            <a:pPr lvl="1"/>
            <a:r>
              <a:rPr lang="en-US" dirty="0" err="1" smtClean="0"/>
              <a:t>KafkaUtils</a:t>
            </a:r>
            <a:r>
              <a:rPr lang="en-US" dirty="0" smtClean="0"/>
              <a:t>, </a:t>
            </a:r>
            <a:r>
              <a:rPr lang="en-US" dirty="0" err="1" smtClean="0"/>
              <a:t>FlumeUtils</a:t>
            </a:r>
            <a:r>
              <a:rPr lang="en-US" dirty="0" smtClean="0"/>
              <a:t>, etc. in Python API</a:t>
            </a:r>
          </a:p>
          <a:p>
            <a:pPr lvl="1"/>
            <a:r>
              <a:rPr lang="en-US" dirty="0" smtClean="0"/>
              <a:t>Make Receiver API easier to use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0497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431426"/>
            <a:ext cx="8183288" cy="44201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chemeClr val="accent6"/>
                </a:solidFill>
              </a:rPr>
              <a:t>Write Ahead Log</a:t>
            </a:r>
          </a:p>
          <a:p>
            <a:pPr marL="0" indent="0" algn="ctr">
              <a:buNone/>
            </a:pPr>
            <a:r>
              <a:rPr lang="en-US" sz="3600" dirty="0" smtClean="0"/>
              <a:t>+ </a:t>
            </a:r>
          </a:p>
          <a:p>
            <a:pPr marL="0" indent="0" algn="ctr">
              <a:buNone/>
            </a:pPr>
            <a:r>
              <a:rPr lang="en-US" sz="3600" dirty="0" smtClean="0">
                <a:solidFill>
                  <a:schemeClr val="accent4"/>
                </a:solidFill>
              </a:rPr>
              <a:t>Reliable Receiver </a:t>
            </a:r>
          </a:p>
          <a:p>
            <a:pPr marL="0" indent="0" algn="ctr">
              <a:buNone/>
            </a:pPr>
            <a:r>
              <a:rPr lang="en-US" sz="3600" dirty="0" smtClean="0"/>
              <a:t>=</a:t>
            </a:r>
          </a:p>
          <a:p>
            <a:pPr marL="0" indent="0" algn="ctr">
              <a:buNone/>
            </a:pPr>
            <a:r>
              <a:rPr lang="en-US" sz="3600" dirty="0" smtClean="0">
                <a:solidFill>
                  <a:schemeClr val="accent3"/>
                </a:solidFill>
              </a:rPr>
              <a:t>Spark Streaming Driver HA</a:t>
            </a:r>
          </a:p>
          <a:p>
            <a:pPr marL="0" indent="0" algn="ctr">
              <a:buNone/>
            </a:pPr>
            <a:r>
              <a:rPr lang="en-US" sz="3600" dirty="0" smtClean="0">
                <a:solidFill>
                  <a:schemeClr val="accent3"/>
                </a:solidFill>
              </a:rPr>
              <a:t>with zero data loss</a:t>
            </a:r>
            <a:endParaRPr lang="en-US" sz="36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56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Driver Recovery Guarantees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12" y="1600200"/>
            <a:ext cx="8183288" cy="473477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Spark 1.1, Spark 1.2 without WAL</a:t>
            </a:r>
          </a:p>
          <a:p>
            <a:pPr lvl="1"/>
            <a:r>
              <a:rPr lang="en-US" dirty="0" smtClean="0"/>
              <a:t>Data received but not processed will be lost</a:t>
            </a:r>
          </a:p>
          <a:p>
            <a:pPr lvl="1"/>
            <a:r>
              <a:rPr lang="en-US" dirty="0" smtClean="0"/>
              <a:t>Past data for stateful ops (window, etc.) will be lost</a:t>
            </a:r>
          </a:p>
          <a:p>
            <a:pPr lvl="1"/>
            <a:endParaRPr lang="en-US" dirty="0"/>
          </a:p>
          <a:p>
            <a:r>
              <a:rPr lang="en-US" dirty="0" smtClean="0"/>
              <a:t>Spark 1.2 with WAL and Unreliable Source/Simple Receiver</a:t>
            </a:r>
          </a:p>
          <a:p>
            <a:pPr lvl="1"/>
            <a:r>
              <a:rPr lang="en-US" dirty="0"/>
              <a:t>Data </a:t>
            </a:r>
            <a:r>
              <a:rPr lang="en-US" dirty="0" smtClean="0"/>
              <a:t>saved to WAL and past data will </a:t>
            </a:r>
            <a:r>
              <a:rPr lang="en-US" dirty="0"/>
              <a:t>be </a:t>
            </a:r>
            <a:r>
              <a:rPr lang="en-US" dirty="0" smtClean="0"/>
              <a:t>recovered</a:t>
            </a:r>
          </a:p>
          <a:p>
            <a:pPr lvl="1"/>
            <a:r>
              <a:rPr lang="en-US" dirty="0" smtClean="0"/>
              <a:t>Data received but not yet saved to WAL will be lost</a:t>
            </a:r>
          </a:p>
          <a:p>
            <a:endParaRPr lang="en-US" dirty="0"/>
          </a:p>
          <a:p>
            <a:r>
              <a:rPr lang="en-US" dirty="0" smtClean="0"/>
              <a:t>Spark 1.2 with WAL and Reliable Source + Receiver</a:t>
            </a:r>
          </a:p>
          <a:p>
            <a:pPr lvl="1"/>
            <a:r>
              <a:rPr lang="en-US" dirty="0" smtClean="0"/>
              <a:t>All data recovered or replayed, zero data loss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19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tabricks_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38527</TotalTime>
  <Words>1843</Words>
  <Application>Microsoft Office PowerPoint</Application>
  <PresentationFormat>On-screen Show (4:3)</PresentationFormat>
  <Paragraphs>509</Paragraphs>
  <Slides>46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Helvetica Neue</vt:lpstr>
      <vt:lpstr>Helvetica Neue Light</vt:lpstr>
      <vt:lpstr>Lucida Grande</vt:lpstr>
      <vt:lpstr>News Gothic MT</vt:lpstr>
      <vt:lpstr>宋体</vt:lpstr>
      <vt:lpstr>Arial</vt:lpstr>
      <vt:lpstr>Calibri</vt:lpstr>
      <vt:lpstr>Courier New</vt:lpstr>
      <vt:lpstr>Wingdings</vt:lpstr>
      <vt:lpstr>Databricks_Presentation</vt:lpstr>
      <vt:lpstr>Spark Streaming  Driver High Availability and Zero Data Loss</vt:lpstr>
      <vt:lpstr>This talk – Agenda</vt:lpstr>
      <vt:lpstr>Spark Architecture</vt:lpstr>
      <vt:lpstr>Spark Streaming Architecture</vt:lpstr>
      <vt:lpstr>Spark Streaming Architecture</vt:lpstr>
      <vt:lpstr>Spark Streaming Architecture</vt:lpstr>
      <vt:lpstr>Spark Streaming Architecture</vt:lpstr>
      <vt:lpstr>Recovery from driver failures</vt:lpstr>
      <vt:lpstr>Metadata checkpointing</vt:lpstr>
      <vt:lpstr>Driver Failure</vt:lpstr>
      <vt:lpstr>Driver Recovery from Checkpoint</vt:lpstr>
      <vt:lpstr>Received in-memory data is lost</vt:lpstr>
      <vt:lpstr>No Checkpointing of Input Data!</vt:lpstr>
      <vt:lpstr>What do we need to do avoid  any data loss??</vt:lpstr>
      <vt:lpstr>What do we need to do avoid  any data loss??</vt:lpstr>
      <vt:lpstr>How to save and recover data inside Spark Streaming</vt:lpstr>
      <vt:lpstr>Write Ahead Log (WAL)</vt:lpstr>
      <vt:lpstr>Data Checkpointing using WALs</vt:lpstr>
      <vt:lpstr>Data Checkpointing using WALs</vt:lpstr>
      <vt:lpstr>Metadata Checkpointing using WALs</vt:lpstr>
      <vt:lpstr>Saving everything</vt:lpstr>
      <vt:lpstr>Recovering everything after driver failure</vt:lpstr>
      <vt:lpstr>What about data received but not saved?</vt:lpstr>
      <vt:lpstr>How to write reliable receivers that ensure zero data loss</vt:lpstr>
      <vt:lpstr>Receivers </vt:lpstr>
      <vt:lpstr>What about data received but not saved?</vt:lpstr>
      <vt:lpstr>Receiver API</vt:lpstr>
      <vt:lpstr>Simple Receiver - Workflow</vt:lpstr>
      <vt:lpstr>Simple Receiver - Workflow</vt:lpstr>
      <vt:lpstr>Simple Receiver - Workflow</vt:lpstr>
      <vt:lpstr>Simple Receiver - Workflow</vt:lpstr>
      <vt:lpstr>Simple Receiver - Characteristics</vt:lpstr>
      <vt:lpstr>Reliable Receiver - Workflow</vt:lpstr>
      <vt:lpstr>Reliable Receiver - Workflow</vt:lpstr>
      <vt:lpstr>Reliable Receiver - Workflow</vt:lpstr>
      <vt:lpstr>Reliable Receiver - Workflow</vt:lpstr>
      <vt:lpstr>Reliable Receiver – Characteristics</vt:lpstr>
      <vt:lpstr>Which workflow to use for my receiver?  </vt:lpstr>
      <vt:lpstr>End-to-end Driver Recovery Guarantees</vt:lpstr>
      <vt:lpstr>How do I set up Driver HA???</vt:lpstr>
      <vt:lpstr>Setting up Driver HA [Spark 1.1]</vt:lpstr>
      <vt:lpstr>Setting up Driver HA + WAL [Spark 1.2]</vt:lpstr>
      <vt:lpstr>Performance Considerations</vt:lpstr>
      <vt:lpstr>Roadmap</vt:lpstr>
      <vt:lpstr>PowerPoint Presentation</vt:lpstr>
      <vt:lpstr>Driver Recovery Guarantees</vt:lpstr>
    </vt:vector>
  </TitlesOfParts>
  <Company>Databricks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 And Apache Spark</dc:title>
  <dc:creator>Arsalan Tavakoli-Shiraji</dc:creator>
  <cp:lastModifiedBy>Shao, Saisai</cp:lastModifiedBy>
  <cp:revision>897</cp:revision>
  <dcterms:created xsi:type="dcterms:W3CDTF">2014-06-17T05:36:41Z</dcterms:created>
  <dcterms:modified xsi:type="dcterms:W3CDTF">2015-01-22T13:58:03Z</dcterms:modified>
</cp:coreProperties>
</file>